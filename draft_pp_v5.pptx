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Play"/>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3" roundtripDataSignature="AMtx7mhmxnG3Xtqpualxl8jrzDkgOxmv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regular.fntdata"/><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lay-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Alexis</a:t>
            </a:r>
            <a:endParaRPr/>
          </a:p>
        </p:txBody>
      </p:sp>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Alexis</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531205846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Alexis</a:t>
            </a:r>
            <a:endParaRPr/>
          </a:p>
        </p:txBody>
      </p:sp>
      <p:sp>
        <p:nvSpPr>
          <p:cNvPr id="116" name="Google Shape;116;g3b531205846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Alexis</a:t>
            </a:r>
            <a:endParaRPr/>
          </a:p>
        </p:txBody>
      </p:sp>
      <p:sp>
        <p:nvSpPr>
          <p:cNvPr id="123" name="Google Shape;1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Alexis</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Alexis</a:t>
            </a:r>
            <a:endParaRPr/>
          </a:p>
        </p:txBody>
      </p:sp>
      <p:sp>
        <p:nvSpPr>
          <p:cNvPr id="144" name="Google Shape;1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Alexis</a:t>
            </a:r>
            <a:endParaRPr/>
          </a:p>
        </p:txBody>
      </p:sp>
      <p:sp>
        <p:nvSpPr>
          <p:cNvPr id="154" name="Google Shape;15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Alexis</a:t>
            </a:r>
            <a:endParaRPr/>
          </a:p>
        </p:txBody>
      </p:sp>
      <p:sp>
        <p:nvSpPr>
          <p:cNvPr id="164" name="Google Shape;1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6510c78dd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3b6510c78dd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Tom</a:t>
            </a:r>
            <a:endParaRPr/>
          </a:p>
        </p:txBody>
      </p:sp>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6510c78dd_1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Tom</a:t>
            </a:r>
            <a:endParaRPr/>
          </a:p>
        </p:txBody>
      </p:sp>
      <p:sp>
        <p:nvSpPr>
          <p:cNvPr id="197" name="Google Shape;197;g3b6510c78dd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6510c78dd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Tom</a:t>
            </a:r>
            <a:endParaRPr/>
          </a:p>
        </p:txBody>
      </p:sp>
      <p:sp>
        <p:nvSpPr>
          <p:cNvPr id="211" name="Google Shape;211;g3b6510c78dd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531205846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Stefan</a:t>
            </a:r>
            <a:endParaRPr/>
          </a:p>
        </p:txBody>
      </p:sp>
      <p:sp>
        <p:nvSpPr>
          <p:cNvPr id="225" name="Google Shape;225;g3b531205846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6510c78dd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b6510c78dd_2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b6510c78dd_2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6510c78dd_2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b6510c78dd_2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g3b6510c78dd_2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bg>
      <p:bgPr>
        <a:solidFill>
          <a:srgbClr val="36733F">
            <a:alpha val="14509"/>
          </a:srgbClr>
        </a:solidFill>
      </p:bgPr>
    </p:bg>
    <p:spTree>
      <p:nvGrpSpPr>
        <p:cNvPr id="15" name="Shape 15"/>
        <p:cNvGrpSpPr/>
        <p:nvPr/>
      </p:nvGrpSpPr>
      <p:grpSpPr>
        <a:xfrm>
          <a:off x="0" y="0"/>
          <a:ext cx="0" cy="0"/>
          <a:chOff x="0" y="0"/>
          <a:chExt cx="0" cy="0"/>
        </a:xfrm>
      </p:grpSpPr>
      <p:sp>
        <p:nvSpPr>
          <p:cNvPr id="16" name="Google Shape;16;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6733F"/>
              </a:buClr>
              <a:buSzPts val="6000"/>
              <a:buFont typeface="Play"/>
              <a:buNone/>
              <a:defRPr sz="6000">
                <a:solidFill>
                  <a:srgbClr val="3673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7"/>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400"/>
              <a:buFont typeface="Arial"/>
              <a:buNone/>
              <a:defRPr b="1" sz="4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6"/>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6"/>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27" name="Google Shape;27;p16"/>
          <p:cNvSpPr/>
          <p:nvPr/>
        </p:nvSpPr>
        <p:spPr>
          <a:xfrm>
            <a:off x="-175" y="0"/>
            <a:ext cx="12192000" cy="1500900"/>
          </a:xfrm>
          <a:prstGeom prst="rect">
            <a:avLst/>
          </a:prstGeom>
          <a:solidFill>
            <a:srgbClr val="36733F">
              <a:alpha val="25490"/>
            </a:srgbClr>
          </a:solid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6"/>
          <p:cNvSpPr/>
          <p:nvPr/>
        </p:nvSpPr>
        <p:spPr>
          <a:xfrm>
            <a:off x="331575" y="252000"/>
            <a:ext cx="86700" cy="967200"/>
          </a:xfrm>
          <a:prstGeom prst="roundRect">
            <a:avLst>
              <a:gd fmla="val 16667" name="adj"/>
            </a:avLst>
          </a:prstGeom>
          <a:solidFill>
            <a:srgbClr val="3673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29" name="Google Shape;29;p16"/>
          <p:cNvGrpSpPr/>
          <p:nvPr/>
        </p:nvGrpSpPr>
        <p:grpSpPr>
          <a:xfrm>
            <a:off x="10324675" y="239243"/>
            <a:ext cx="1647410" cy="982865"/>
            <a:chOff x="2824230" y="610075"/>
            <a:chExt cx="6995373" cy="3995386"/>
          </a:xfrm>
        </p:grpSpPr>
        <p:sp>
          <p:nvSpPr>
            <p:cNvPr id="30" name="Google Shape;30;p16"/>
            <p:cNvSpPr/>
            <p:nvPr/>
          </p:nvSpPr>
          <p:spPr>
            <a:xfrm>
              <a:off x="2970603" y="739961"/>
              <a:ext cx="6849000" cy="3865500"/>
            </a:xfrm>
            <a:prstGeom prst="rect">
              <a:avLst/>
            </a:prstGeom>
            <a:solidFill>
              <a:srgbClr val="36733F"/>
            </a:solidFill>
            <a:ln cap="flat" cmpd="sng" w="9525">
              <a:solidFill>
                <a:schemeClr val="dk2"/>
              </a:solidFill>
              <a:prstDash val="solid"/>
              <a:round/>
              <a:headEnd len="sm" w="sm" type="none"/>
              <a:tailEnd len="sm" w="sm" type="none"/>
            </a:ln>
          </p:spPr>
          <p:txBody>
            <a:bodyPr anchorCtr="0" anchor="ctr" bIns="22475" lIns="22475" spcFirstLastPara="1" rIns="22475" wrap="square" tIns="22475">
              <a:noAutofit/>
            </a:bodyPr>
            <a:lstStyle/>
            <a:p>
              <a:pPr indent="0" lvl="0" marL="0" marR="0" rtl="0" algn="ctr">
                <a:lnSpc>
                  <a:spcPct val="100000"/>
                </a:lnSpc>
                <a:spcBef>
                  <a:spcPts val="0"/>
                </a:spcBef>
                <a:spcAft>
                  <a:spcPts val="0"/>
                </a:spcAft>
                <a:buClr>
                  <a:srgbClr val="000000"/>
                </a:buClr>
                <a:buSzPts val="344"/>
                <a:buFont typeface="Arial"/>
                <a:buNone/>
              </a:pPr>
              <a:r>
                <a:t/>
              </a:r>
              <a:endParaRPr b="0" i="0" sz="344" u="none" cap="none" strike="noStrike">
                <a:solidFill>
                  <a:srgbClr val="000000"/>
                </a:solidFill>
                <a:latin typeface="Arial"/>
                <a:ea typeface="Arial"/>
                <a:cs typeface="Arial"/>
                <a:sym typeface="Arial"/>
              </a:endParaRPr>
            </a:p>
          </p:txBody>
        </p:sp>
        <p:pic>
          <p:nvPicPr>
            <p:cNvPr descr="Une image contenant vert, légume, brocoli&#10;&#10;Le contenu généré par l’IA peut être incorrect." id="31" name="Google Shape;31;p16"/>
            <p:cNvPicPr preferRelativeResize="0"/>
            <p:nvPr/>
          </p:nvPicPr>
          <p:blipFill rotWithShape="1">
            <a:blip r:embed="rId2">
              <a:alphaModFix/>
            </a:blip>
            <a:srcRect b="20329" l="17518" r="12037" t="13508"/>
            <a:stretch/>
          </p:blipFill>
          <p:spPr>
            <a:xfrm>
              <a:off x="2824230" y="610075"/>
              <a:ext cx="6848901" cy="3865426"/>
            </a:xfrm>
            <a:prstGeom prst="rect">
              <a:avLst/>
            </a:prstGeom>
            <a:noFill/>
            <a:ln cap="flat" cmpd="sng" w="9525">
              <a:solidFill>
                <a:schemeClr val="dk1"/>
              </a:solidFill>
              <a:prstDash val="solid"/>
              <a:round/>
              <a:headEnd len="sm" w="sm" type="none"/>
              <a:tailEnd len="sm" w="sm" type="none"/>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2" name="Shape 32"/>
        <p:cNvGrpSpPr/>
        <p:nvPr/>
      </p:nvGrpSpPr>
      <p:grpSpPr>
        <a:xfrm>
          <a:off x="0" y="0"/>
          <a:ext cx="0" cy="0"/>
          <a:chOff x="0" y="0"/>
          <a:chExt cx="0" cy="0"/>
        </a:xfrm>
      </p:grpSpPr>
      <p:sp>
        <p:nvSpPr>
          <p:cNvPr id="33" name="Google Shape;33;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18"/>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8"/>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8" name="Shape 38"/>
        <p:cNvGrpSpPr/>
        <p:nvPr/>
      </p:nvGrpSpPr>
      <p:grpSpPr>
        <a:xfrm>
          <a:off x="0" y="0"/>
          <a:ext cx="0" cy="0"/>
          <a:chOff x="0" y="0"/>
          <a:chExt cx="0" cy="0"/>
        </a:xfrm>
      </p:grpSpPr>
      <p:sp>
        <p:nvSpPr>
          <p:cNvPr id="39" name="Google Shape;3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45" name="Google Shape;45;p19"/>
          <p:cNvSpPr/>
          <p:nvPr/>
        </p:nvSpPr>
        <p:spPr>
          <a:xfrm>
            <a:off x="691625" y="408413"/>
            <a:ext cx="83700" cy="1239000"/>
          </a:xfrm>
          <a:prstGeom prst="roundRect">
            <a:avLst>
              <a:gd fmla="val 16667" name="adj"/>
            </a:avLst>
          </a:prstGeom>
          <a:solidFill>
            <a:srgbClr val="36733F"/>
          </a:solid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6" name="Shape 46"/>
        <p:cNvGrpSpPr/>
        <p:nvPr/>
      </p:nvGrpSpPr>
      <p:grpSpPr>
        <a:xfrm>
          <a:off x="0" y="0"/>
          <a:ext cx="0" cy="0"/>
          <a:chOff x="0" y="0"/>
          <a:chExt cx="0" cy="0"/>
        </a:xfrm>
      </p:grpSpPr>
      <p:sp>
        <p:nvSpPr>
          <p:cNvPr id="47" name="Google Shape;47;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0"/>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0"/>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55" name="Google Shape;55;p20"/>
          <p:cNvSpPr/>
          <p:nvPr/>
        </p:nvSpPr>
        <p:spPr>
          <a:xfrm>
            <a:off x="691625" y="408413"/>
            <a:ext cx="83700" cy="1239000"/>
          </a:xfrm>
          <a:prstGeom prst="roundRect">
            <a:avLst>
              <a:gd fmla="val 16667" name="adj"/>
            </a:avLst>
          </a:prstGeom>
          <a:solidFill>
            <a:srgbClr val="36733F"/>
          </a:solid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6" name="Shape 56"/>
        <p:cNvGrpSpPr/>
        <p:nvPr/>
      </p:nvGrpSpPr>
      <p:grpSpPr>
        <a:xfrm>
          <a:off x="0" y="0"/>
          <a:ext cx="0" cy="0"/>
          <a:chOff x="0" y="0"/>
          <a:chExt cx="0" cy="0"/>
        </a:xfrm>
      </p:grpSpPr>
      <p:sp>
        <p:nvSpPr>
          <p:cNvPr id="57" name="Google Shape;5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1"/>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61" name="Google Shape;61;p21"/>
          <p:cNvSpPr/>
          <p:nvPr/>
        </p:nvSpPr>
        <p:spPr>
          <a:xfrm>
            <a:off x="691625" y="408413"/>
            <a:ext cx="83700" cy="1239000"/>
          </a:xfrm>
          <a:prstGeom prst="roundRect">
            <a:avLst>
              <a:gd fmla="val 16667" name="adj"/>
            </a:avLst>
          </a:prstGeom>
          <a:solidFill>
            <a:srgbClr val="36733F"/>
          </a:solid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2" name="Shape 62"/>
        <p:cNvGrpSpPr/>
        <p:nvPr/>
      </p:nvGrpSpPr>
      <p:grpSpPr>
        <a:xfrm>
          <a:off x="0" y="0"/>
          <a:ext cx="0" cy="0"/>
          <a:chOff x="0" y="0"/>
          <a:chExt cx="0" cy="0"/>
        </a:xfrm>
      </p:grpSpPr>
      <p:sp>
        <p:nvSpPr>
          <p:cNvPr id="63" name="Google Shape;63;p22"/>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2"/>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3"/>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3" name="Shape 73"/>
        <p:cNvGrpSpPr/>
        <p:nvPr/>
      </p:nvGrpSpPr>
      <p:grpSpPr>
        <a:xfrm>
          <a:off x="0" y="0"/>
          <a:ext cx="0" cy="0"/>
          <a:chOff x="0" y="0"/>
          <a:chExt cx="0" cy="0"/>
        </a:xfrm>
      </p:grpSpPr>
      <p:sp>
        <p:nvSpPr>
          <p:cNvPr id="74" name="Google Shape;74;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4"/>
          <p:cNvSpPr/>
          <p:nvPr>
            <p:ph idx="2" type="pic"/>
          </p:nvPr>
        </p:nvSpPr>
        <p:spPr>
          <a:xfrm>
            <a:off x="5183188" y="987425"/>
            <a:ext cx="6172200" cy="4873625"/>
          </a:xfrm>
          <a:prstGeom prst="rect">
            <a:avLst/>
          </a:prstGeom>
          <a:noFill/>
          <a:ln>
            <a:noFill/>
          </a:ln>
        </p:spPr>
      </p:sp>
      <p:sp>
        <p:nvSpPr>
          <p:cNvPr id="76" name="Google Shape;76;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24"/>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0" name="Shape 80"/>
        <p:cNvGrpSpPr/>
        <p:nvPr/>
      </p:nvGrpSpPr>
      <p:grpSpPr>
        <a:xfrm>
          <a:off x="0" y="0"/>
          <a:ext cx="0" cy="0"/>
          <a:chOff x="0" y="0"/>
          <a:chExt cx="0" cy="0"/>
        </a:xfrm>
      </p:grpSpPr>
      <p:sp>
        <p:nvSpPr>
          <p:cNvPr id="81" name="Google Shape;81;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25"/>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5"/>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86" name="Google Shape;86;p25"/>
          <p:cNvSpPr/>
          <p:nvPr/>
        </p:nvSpPr>
        <p:spPr>
          <a:xfrm>
            <a:off x="691625" y="408413"/>
            <a:ext cx="83700" cy="1239000"/>
          </a:xfrm>
          <a:prstGeom prst="roundRect">
            <a:avLst>
              <a:gd fmla="val 16667" name="adj"/>
            </a:avLst>
          </a:prstGeom>
          <a:solidFill>
            <a:srgbClr val="36733F"/>
          </a:solid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87" name="Shape 87"/>
        <p:cNvGrpSpPr/>
        <p:nvPr/>
      </p:nvGrpSpPr>
      <p:grpSpPr>
        <a:xfrm>
          <a:off x="0" y="0"/>
          <a:ext cx="0" cy="0"/>
          <a:chOff x="0" y="0"/>
          <a:chExt cx="0" cy="0"/>
        </a:xfrm>
      </p:grpSpPr>
      <p:sp>
        <p:nvSpPr>
          <p:cNvPr id="88" name="Google Shape;88;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26"/>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6"/>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27535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281675"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largus.fr/pros/actualite-automobile/les-emissions-moyennes-de-co2-remontent-en-europe-avec-le-repli-des-ventes-d-autos-electriques-30040781.html" TargetMode="External"/><Relationship Id="rId4" Type="http://schemas.openxmlformats.org/officeDocument/2006/relationships/hyperlink" Target="http://www.largus.fr/actualite-automobile/archive/emissions-de-co2-tag-7200.html" TargetMode="External"/><Relationship Id="rId5" Type="http://schemas.openxmlformats.org/officeDocument/2006/relationships/image" Target="../media/image27.png"/><Relationship Id="rId6"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co2cars.apps.eea.europa.eu/"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5.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13.png"/><Relationship Id="rId5"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type="ctrTitle"/>
          </p:nvPr>
        </p:nvSpPr>
        <p:spPr>
          <a:xfrm>
            <a:off x="909200" y="4029804"/>
            <a:ext cx="10373700" cy="190627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rial"/>
              <a:buNone/>
            </a:pPr>
            <a:r>
              <a:rPr b="1" lang="fr-FR">
                <a:latin typeface="Arial"/>
                <a:ea typeface="Arial"/>
                <a:cs typeface="Arial"/>
                <a:sym typeface="Arial"/>
              </a:rPr>
              <a:t>Émissions </a:t>
            </a:r>
            <a:r>
              <a:rPr b="1" lang="fr-FR">
                <a:solidFill>
                  <a:schemeClr val="dk1"/>
                </a:solidFill>
                <a:latin typeface="Arial"/>
                <a:ea typeface="Arial"/>
                <a:cs typeface="Arial"/>
                <a:sym typeface="Arial"/>
              </a:rPr>
              <a:t>CO2 </a:t>
            </a:r>
            <a:r>
              <a:rPr b="1" lang="fr-FR">
                <a:solidFill>
                  <a:schemeClr val="accent3"/>
                </a:solidFill>
                <a:latin typeface="Arial"/>
                <a:ea typeface="Arial"/>
                <a:cs typeface="Arial"/>
                <a:sym typeface="Arial"/>
              </a:rPr>
              <a:t>des Véhicules en</a:t>
            </a:r>
            <a:r>
              <a:rPr b="1" lang="fr-FR">
                <a:solidFill>
                  <a:schemeClr val="dk1"/>
                </a:solidFill>
                <a:latin typeface="Arial"/>
                <a:ea typeface="Arial"/>
                <a:cs typeface="Arial"/>
                <a:sym typeface="Arial"/>
              </a:rPr>
              <a:t> </a:t>
            </a:r>
            <a:r>
              <a:rPr b="1" lang="fr-FR">
                <a:latin typeface="Arial"/>
                <a:ea typeface="Arial"/>
                <a:cs typeface="Arial"/>
                <a:sym typeface="Arial"/>
              </a:rPr>
              <a:t>Europe</a:t>
            </a:r>
            <a:endParaRPr>
              <a:latin typeface="Arial"/>
              <a:ea typeface="Arial"/>
              <a:cs typeface="Arial"/>
              <a:sym typeface="Arial"/>
            </a:endParaRPr>
          </a:p>
        </p:txBody>
      </p:sp>
      <p:sp>
        <p:nvSpPr>
          <p:cNvPr id="98" name="Google Shape;98;p1"/>
          <p:cNvSpPr txBox="1"/>
          <p:nvPr>
            <p:ph idx="1" type="subTitle"/>
          </p:nvPr>
        </p:nvSpPr>
        <p:spPr>
          <a:xfrm>
            <a:off x="1524000" y="6055144"/>
            <a:ext cx="9144000" cy="529800"/>
          </a:xfrm>
          <a:prstGeom prst="rect">
            <a:avLst/>
          </a:prstGeom>
          <a:noFill/>
          <a:ln>
            <a:noFill/>
          </a:ln>
        </p:spPr>
        <p:txBody>
          <a:bodyPr anchorCtr="0" anchor="t" bIns="45700" lIns="91425" spcFirstLastPara="1" rIns="91425" wrap="square" tIns="45700">
            <a:normAutofit fontScale="47500" lnSpcReduction="20000"/>
          </a:bodyPr>
          <a:lstStyle/>
          <a:p>
            <a:pPr indent="0" lvl="0" marL="0" rtl="0" algn="ctr">
              <a:lnSpc>
                <a:spcPct val="90000"/>
              </a:lnSpc>
              <a:spcBef>
                <a:spcPts val="1000"/>
              </a:spcBef>
              <a:spcAft>
                <a:spcPts val="0"/>
              </a:spcAft>
              <a:buSzPct val="62808"/>
              <a:buNone/>
            </a:pPr>
            <a:r>
              <a:rPr lang="fr-FR" sz="1620"/>
              <a:t>Alexis Decloquement | Tom Burret | Stefan Loubry | Stéphane Lable</a:t>
            </a:r>
            <a:endParaRPr sz="1620"/>
          </a:p>
          <a:p>
            <a:pPr indent="0" lvl="0" marL="0" rtl="0" algn="ctr">
              <a:lnSpc>
                <a:spcPct val="90000"/>
              </a:lnSpc>
              <a:spcBef>
                <a:spcPts val="1000"/>
              </a:spcBef>
              <a:spcAft>
                <a:spcPts val="0"/>
              </a:spcAft>
              <a:buSzPct val="62808"/>
              <a:buNone/>
            </a:pPr>
            <a:r>
              <a:rPr i="1" lang="fr-FR" sz="1620"/>
              <a:t>nov25_bootcamp_da</a:t>
            </a:r>
            <a:endParaRPr i="1" sz="1620"/>
          </a:p>
        </p:txBody>
      </p:sp>
      <p:grpSp>
        <p:nvGrpSpPr>
          <p:cNvPr id="99" name="Google Shape;99;p1"/>
          <p:cNvGrpSpPr/>
          <p:nvPr/>
        </p:nvGrpSpPr>
        <p:grpSpPr>
          <a:xfrm>
            <a:off x="3061804" y="291482"/>
            <a:ext cx="6068486" cy="3620619"/>
            <a:chOff x="2824230" y="610075"/>
            <a:chExt cx="6995373" cy="3995386"/>
          </a:xfrm>
        </p:grpSpPr>
        <p:sp>
          <p:nvSpPr>
            <p:cNvPr id="100" name="Google Shape;100;p1"/>
            <p:cNvSpPr/>
            <p:nvPr/>
          </p:nvSpPr>
          <p:spPr>
            <a:xfrm>
              <a:off x="2970603" y="739961"/>
              <a:ext cx="6849000" cy="3865500"/>
            </a:xfrm>
            <a:prstGeom prst="rect">
              <a:avLst/>
            </a:prstGeom>
            <a:solidFill>
              <a:srgbClr val="36733F"/>
            </a:solidFill>
            <a:ln cap="flat" cmpd="sng" w="9525">
              <a:solidFill>
                <a:schemeClr val="dk2"/>
              </a:solidFill>
              <a:prstDash val="solid"/>
              <a:round/>
              <a:headEnd len="sm" w="sm" type="none"/>
              <a:tailEnd len="sm" w="sm" type="none"/>
            </a:ln>
          </p:spPr>
          <p:txBody>
            <a:bodyPr anchorCtr="0" anchor="ctr" bIns="82850" lIns="82850" spcFirstLastPara="1" rIns="82850" wrap="square" tIns="82850">
              <a:noAutofit/>
            </a:bodyPr>
            <a:lstStyle/>
            <a:p>
              <a:pPr indent="0" lvl="0" marL="0" marR="0" rtl="0" algn="ctr">
                <a:lnSpc>
                  <a:spcPct val="100000"/>
                </a:lnSpc>
                <a:spcBef>
                  <a:spcPts val="0"/>
                </a:spcBef>
                <a:spcAft>
                  <a:spcPts val="0"/>
                </a:spcAft>
                <a:buClr>
                  <a:srgbClr val="000000"/>
                </a:buClr>
                <a:buSzPts val="1268"/>
                <a:buFont typeface="Arial"/>
                <a:buNone/>
              </a:pPr>
              <a:r>
                <a:t/>
              </a:r>
              <a:endParaRPr b="0" i="0" sz="1268" u="none" cap="none" strike="noStrike">
                <a:solidFill>
                  <a:srgbClr val="000000"/>
                </a:solidFill>
                <a:latin typeface="Arial"/>
                <a:ea typeface="Arial"/>
                <a:cs typeface="Arial"/>
                <a:sym typeface="Arial"/>
              </a:endParaRPr>
            </a:p>
          </p:txBody>
        </p:sp>
        <p:pic>
          <p:nvPicPr>
            <p:cNvPr descr="Une image contenant vert, légume, brocoli&#10;&#10;Le contenu généré par l’IA peut être incorrect." id="101" name="Google Shape;101;p1"/>
            <p:cNvPicPr preferRelativeResize="0"/>
            <p:nvPr/>
          </p:nvPicPr>
          <p:blipFill rotWithShape="1">
            <a:blip r:embed="rId3">
              <a:alphaModFix/>
            </a:blip>
            <a:srcRect b="20329" l="17518" r="12037" t="13508"/>
            <a:stretch/>
          </p:blipFill>
          <p:spPr>
            <a:xfrm>
              <a:off x="2824230" y="610075"/>
              <a:ext cx="6848901" cy="3865426"/>
            </a:xfrm>
            <a:prstGeom prst="rect">
              <a:avLst/>
            </a:prstGeom>
            <a:noFill/>
            <a:ln cap="flat" cmpd="sng" w="34525">
              <a:solidFill>
                <a:schemeClr val="dk1"/>
              </a:solidFill>
              <a:prstDash val="solid"/>
              <a:round/>
              <a:headEnd len="sm" w="sm" type="none"/>
              <a:tailEnd len="sm" w="sm" type="none"/>
            </a:ln>
          </p:spPr>
        </p:pic>
      </p:grpSp>
      <p:pic>
        <p:nvPicPr>
          <p:cNvPr id="102" name="Google Shape;102;p1" title="logo-2021-datascientest.png"/>
          <p:cNvPicPr preferRelativeResize="0"/>
          <p:nvPr/>
        </p:nvPicPr>
        <p:blipFill rotWithShape="1">
          <a:blip r:embed="rId4">
            <a:alphaModFix/>
          </a:blip>
          <a:srcRect b="0" l="0" r="0" t="0"/>
          <a:stretch/>
        </p:blipFill>
        <p:spPr>
          <a:xfrm>
            <a:off x="9724022" y="6078912"/>
            <a:ext cx="2060625" cy="408282"/>
          </a:xfrm>
          <a:prstGeom prst="rect">
            <a:avLst/>
          </a:prstGeom>
          <a:noFill/>
          <a:ln>
            <a:noFill/>
          </a:ln>
        </p:spPr>
      </p:pic>
      <p:sp>
        <p:nvSpPr>
          <p:cNvPr id="103" name="Google Shape;103;p1"/>
          <p:cNvSpPr txBox="1"/>
          <p:nvPr/>
        </p:nvSpPr>
        <p:spPr>
          <a:xfrm>
            <a:off x="0" y="7110575"/>
            <a:ext cx="12192000" cy="503184"/>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1" i="0" lang="fr-FR" sz="1800" u="none" cap="none" strike="noStrike">
                <a:solidFill>
                  <a:srgbClr val="36733F"/>
                </a:solidFill>
                <a:latin typeface="Arial"/>
                <a:ea typeface="Arial"/>
                <a:cs typeface="Arial"/>
                <a:sym typeface="Arial"/>
              </a:rPr>
              <a:t>&gt;</a:t>
            </a:r>
            <a:r>
              <a:rPr b="0" i="0" lang="fr-FR" sz="1800" u="none" cap="none" strike="noStrike">
                <a:solidFill>
                  <a:schemeClr val="dk1"/>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Introduction | </a:t>
            </a:r>
            <a:r>
              <a:rPr b="0" i="0" lang="fr-FR" sz="1800" u="none" cap="none" strike="noStrike">
                <a:solidFill>
                  <a:srgbClr val="A5A5A5"/>
                </a:solidFill>
                <a:latin typeface="Arial"/>
                <a:ea typeface="Arial"/>
                <a:cs typeface="Arial"/>
                <a:sym typeface="Arial"/>
              </a:rPr>
              <a:t>Exploration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Machine Learning </a:t>
            </a:r>
            <a:r>
              <a:rPr b="1" i="0" lang="fr-FR" sz="1800" u="none" cap="none" strike="noStrike">
                <a:solidFill>
                  <a:srgbClr val="A5A5A5"/>
                </a:solidFill>
                <a:latin typeface="Arial"/>
                <a:ea typeface="Arial"/>
                <a:cs typeface="Arial"/>
                <a:sym typeface="Arial"/>
              </a:rPr>
              <a:t>|</a:t>
            </a:r>
            <a:r>
              <a:rPr b="0" i="0" lang="fr-FR" sz="1800" u="none" cap="none" strike="noStrike">
                <a:solidFill>
                  <a:srgbClr val="A5A5A5"/>
                </a:solidFill>
                <a:latin typeface="Arial"/>
                <a:ea typeface="Arial"/>
                <a:cs typeface="Arial"/>
                <a:sym typeface="Arial"/>
              </a:rPr>
              <a:t> Conclusion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Annexes/Codes</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2"/>
          <p:cNvSpPr txBox="1"/>
          <p:nvPr/>
        </p:nvSpPr>
        <p:spPr>
          <a:xfrm>
            <a:off x="551964" y="1790625"/>
            <a:ext cx="5563500" cy="35247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chemeClr val="dk1"/>
              </a:buClr>
              <a:buSzPts val="1900"/>
              <a:buFont typeface="Arial"/>
              <a:buChar char="●"/>
            </a:pPr>
            <a:r>
              <a:rPr b="1" i="0" lang="fr-FR" sz="1900" u="none" cap="none" strike="noStrike">
                <a:solidFill>
                  <a:schemeClr val="dk1"/>
                </a:solidFill>
                <a:latin typeface="Arial"/>
                <a:ea typeface="Arial"/>
                <a:cs typeface="Arial"/>
                <a:sym typeface="Arial"/>
              </a:rPr>
              <a:t>Baisse globale des émissions de CO₂ des véhicules</a:t>
            </a:r>
            <a:r>
              <a:rPr b="0" i="0" lang="fr-FR" sz="1900" u="none" cap="none" strike="noStrike">
                <a:solidFill>
                  <a:schemeClr val="dk1"/>
                </a:solidFill>
                <a:latin typeface="Arial"/>
                <a:ea typeface="Arial"/>
                <a:cs typeface="Arial"/>
                <a:sym typeface="Arial"/>
              </a:rPr>
              <a:t> observée en Europe ces dernières années - </a:t>
            </a:r>
            <a:r>
              <a:rPr b="0" i="0" lang="fr-FR" sz="1900" u="sng" cap="none" strike="noStrike">
                <a:solidFill>
                  <a:schemeClr val="dk1"/>
                </a:solidFill>
                <a:latin typeface="Arial"/>
                <a:ea typeface="Arial"/>
                <a:cs typeface="Arial"/>
                <a:sym typeface="Arial"/>
                <a:hlinkClick r:id="rId3">
                  <a:extLst>
                    <a:ext uri="{A12FA001-AC4F-418D-AE19-62706E023703}">
                      <ahyp:hlinkClr val="tx"/>
                    </a:ext>
                  </a:extLst>
                </a:hlinkClick>
              </a:rPr>
              <a:t>Site de l'Argus</a:t>
            </a:r>
            <a:r>
              <a:rPr b="0" i="0" lang="fr-FR" sz="1900" u="none" cap="none" strike="noStrike">
                <a:solidFill>
                  <a:schemeClr val="dk1"/>
                </a:solidFill>
                <a:latin typeface="Arial"/>
                <a:ea typeface="Arial"/>
                <a:cs typeface="Arial"/>
                <a:sym typeface="Arial"/>
              </a:rPr>
              <a:t> – </a:t>
            </a:r>
            <a:endParaRPr b="0" i="0" sz="1300" u="none" cap="none" strike="noStrike">
              <a:solidFill>
                <a:srgbClr val="000000"/>
              </a:solidFill>
              <a:latin typeface="Arial"/>
              <a:ea typeface="Arial"/>
              <a:cs typeface="Arial"/>
              <a:sym typeface="Arial"/>
            </a:endParaRPr>
          </a:p>
          <a:p>
            <a:pPr indent="-323850" lvl="1" marL="914400" marR="0" rtl="0" algn="l">
              <a:lnSpc>
                <a:spcPct val="100000"/>
              </a:lnSpc>
              <a:spcBef>
                <a:spcPts val="0"/>
              </a:spcBef>
              <a:spcAft>
                <a:spcPts val="0"/>
              </a:spcAft>
              <a:buClr>
                <a:schemeClr val="dk1"/>
              </a:buClr>
              <a:buSzPts val="1500"/>
              <a:buFont typeface="Arial"/>
              <a:buChar char="○"/>
            </a:pPr>
            <a:r>
              <a:rPr b="0" i="1" lang="fr-FR" sz="1500" u="none" cap="none" strike="noStrike">
                <a:solidFill>
                  <a:schemeClr val="dk1"/>
                </a:solidFill>
                <a:latin typeface="Arial"/>
                <a:ea typeface="Arial"/>
                <a:cs typeface="Arial"/>
                <a:sym typeface="Arial"/>
              </a:rPr>
              <a:t>« Soutenues par la croissance des ventes de voitures électriques, </a:t>
            </a:r>
            <a:r>
              <a:rPr b="0" i="1" lang="fr-FR" sz="1500" u="sng" cap="none" strike="noStrike">
                <a:solidFill>
                  <a:schemeClr val="dk1"/>
                </a:solidFill>
                <a:latin typeface="Arial"/>
                <a:ea typeface="Arial"/>
                <a:cs typeface="Arial"/>
                <a:sym typeface="Arial"/>
                <a:hlinkClick r:id="rId4">
                  <a:extLst>
                    <a:ext uri="{A12FA001-AC4F-418D-AE19-62706E023703}">
                      <ahyp:hlinkClr val="tx"/>
                    </a:ext>
                  </a:extLst>
                </a:hlinkClick>
              </a:rPr>
              <a:t>les émissions moyennes de dioxyde de carbone</a:t>
            </a:r>
            <a:r>
              <a:rPr b="0" i="1" lang="fr-FR" sz="1500" u="none" cap="none" strike="noStrike">
                <a:solidFill>
                  <a:schemeClr val="dk1"/>
                </a:solidFill>
                <a:latin typeface="Arial"/>
                <a:ea typeface="Arial"/>
                <a:cs typeface="Arial"/>
                <a:sym typeface="Arial"/>
              </a:rPr>
              <a:t> (CO</a:t>
            </a:r>
            <a:r>
              <a:rPr b="0" baseline="-25000" i="1" lang="fr-FR" sz="1500" u="none" cap="none" strike="noStrike">
                <a:solidFill>
                  <a:schemeClr val="dk1"/>
                </a:solidFill>
                <a:latin typeface="Arial"/>
                <a:ea typeface="Arial"/>
                <a:cs typeface="Arial"/>
                <a:sym typeface="Arial"/>
              </a:rPr>
              <a:t>2</a:t>
            </a:r>
            <a:r>
              <a:rPr b="0" i="1" lang="fr-FR" sz="1500" u="none" cap="none" strike="noStrike">
                <a:solidFill>
                  <a:schemeClr val="dk1"/>
                </a:solidFill>
                <a:latin typeface="Arial"/>
                <a:ea typeface="Arial"/>
                <a:cs typeface="Arial"/>
                <a:sym typeface="Arial"/>
              </a:rPr>
              <a:t>) des voitures particulières neuves immatriculées en Europe avaient affiché une réduction de 28,2 % entre 2019 et 2023, passant de 148,2 à 106,4 g/km. »</a:t>
            </a:r>
            <a:endParaRPr b="0" i="0" sz="13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chemeClr val="dk1"/>
              </a:buClr>
              <a:buSzPts val="1900"/>
              <a:buFont typeface="Arial"/>
              <a:buNone/>
            </a:pPr>
            <a:r>
              <a:t/>
            </a:r>
            <a:endParaRPr b="0" i="0" sz="1900" u="none" cap="none" strike="noStrike">
              <a:solidFill>
                <a:schemeClr val="dk1"/>
              </a:solidFill>
              <a:latin typeface="Arial"/>
              <a:ea typeface="Arial"/>
              <a:cs typeface="Arial"/>
              <a:sym typeface="Arial"/>
            </a:endParaRPr>
          </a:p>
          <a:p>
            <a:pPr indent="-349250" lvl="0" marL="457200" rtl="0" algn="l">
              <a:spcBef>
                <a:spcPts val="0"/>
              </a:spcBef>
              <a:spcAft>
                <a:spcPts val="0"/>
              </a:spcAft>
              <a:buClr>
                <a:schemeClr val="dk1"/>
              </a:buClr>
              <a:buSzPts val="1900"/>
              <a:buChar char="●"/>
            </a:pPr>
            <a:r>
              <a:rPr b="1" lang="fr-FR" sz="1900">
                <a:solidFill>
                  <a:schemeClr val="dk1"/>
                </a:solidFill>
              </a:rPr>
              <a:t>Développement des véhicules électriques</a:t>
            </a:r>
            <a:r>
              <a:rPr lang="fr-FR" sz="1900">
                <a:solidFill>
                  <a:schemeClr val="dk1"/>
                </a:solidFill>
              </a:rPr>
              <a:t>, contribuant à la diminution des émissions moyennes par véhicule.</a:t>
            </a:r>
            <a:endParaRPr b="0" i="0" sz="1300" u="none" cap="none" strike="noStrike">
              <a:solidFill>
                <a:srgbClr val="000000"/>
              </a:solidFill>
              <a:latin typeface="Arial"/>
              <a:ea typeface="Arial"/>
              <a:cs typeface="Arial"/>
              <a:sym typeface="Arial"/>
            </a:endParaRPr>
          </a:p>
        </p:txBody>
      </p:sp>
      <p:pic>
        <p:nvPicPr>
          <p:cNvPr descr="Voiture électrique avec un remplissage uni" id="109" name="Google Shape;109;p2"/>
          <p:cNvPicPr preferRelativeResize="0"/>
          <p:nvPr/>
        </p:nvPicPr>
        <p:blipFill rotWithShape="1">
          <a:blip r:embed="rId5">
            <a:alphaModFix/>
          </a:blip>
          <a:srcRect b="0" l="0" r="0" t="0"/>
          <a:stretch/>
        </p:blipFill>
        <p:spPr>
          <a:xfrm>
            <a:off x="11092852" y="5558663"/>
            <a:ext cx="716200" cy="716200"/>
          </a:xfrm>
          <a:prstGeom prst="rect">
            <a:avLst/>
          </a:prstGeom>
          <a:noFill/>
          <a:ln>
            <a:noFill/>
          </a:ln>
        </p:spPr>
      </p:pic>
      <p:pic>
        <p:nvPicPr>
          <p:cNvPr descr="Feuille avec un remplissage uni" id="110" name="Google Shape;110;p2"/>
          <p:cNvPicPr preferRelativeResize="0"/>
          <p:nvPr/>
        </p:nvPicPr>
        <p:blipFill rotWithShape="1">
          <a:blip r:embed="rId6">
            <a:alphaModFix/>
          </a:blip>
          <a:srcRect b="0" l="0" r="0" t="0"/>
          <a:stretch/>
        </p:blipFill>
        <p:spPr>
          <a:xfrm>
            <a:off x="132902" y="1545049"/>
            <a:ext cx="462425" cy="462425"/>
          </a:xfrm>
          <a:prstGeom prst="rect">
            <a:avLst/>
          </a:prstGeom>
          <a:noFill/>
          <a:ln>
            <a:noFill/>
          </a:ln>
        </p:spPr>
      </p:pic>
      <p:sp>
        <p:nvSpPr>
          <p:cNvPr id="111" name="Google Shape;111;p2"/>
          <p:cNvSpPr txBox="1"/>
          <p:nvPr/>
        </p:nvSpPr>
        <p:spPr>
          <a:xfrm>
            <a:off x="6461850" y="1773525"/>
            <a:ext cx="5347200" cy="47715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chemeClr val="dk1"/>
              </a:buClr>
              <a:buSzPts val="1900"/>
              <a:buFont typeface="Arial"/>
              <a:buChar char="●"/>
            </a:pPr>
            <a:r>
              <a:rPr b="1" i="0" lang="fr-FR" sz="1900" u="none" cap="none" strike="noStrike">
                <a:solidFill>
                  <a:schemeClr val="dk1"/>
                </a:solidFill>
                <a:latin typeface="Arial"/>
                <a:ea typeface="Arial"/>
                <a:cs typeface="Arial"/>
                <a:sym typeface="Arial"/>
              </a:rPr>
              <a:t>Impact conditionné par le renouvellement du parc automobile</a:t>
            </a:r>
            <a:r>
              <a:rPr b="0" i="0" lang="fr-FR" sz="1900" u="none" cap="none" strike="noStrike">
                <a:solidFill>
                  <a:schemeClr val="dk1"/>
                </a:solidFill>
                <a:latin typeface="Arial"/>
                <a:ea typeface="Arial"/>
                <a:cs typeface="Arial"/>
                <a:sym typeface="Arial"/>
              </a:rPr>
              <a:t> et le déploiement des infrastructures de recharge.</a:t>
            </a:r>
            <a:endParaRPr b="0" i="0" sz="19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sz="1900">
              <a:solidFill>
                <a:schemeClr val="dk1"/>
              </a:solidFill>
            </a:endParaRPr>
          </a:p>
          <a:p>
            <a:pPr indent="-349250" lvl="0" marL="457200" rtl="0" algn="l">
              <a:spcBef>
                <a:spcPts val="0"/>
              </a:spcBef>
              <a:spcAft>
                <a:spcPts val="0"/>
              </a:spcAft>
              <a:buClr>
                <a:schemeClr val="dk1"/>
              </a:buClr>
              <a:buSzPts val="1900"/>
              <a:buChar char="●"/>
            </a:pPr>
            <a:r>
              <a:rPr b="1" lang="fr-FR" sz="1900">
                <a:solidFill>
                  <a:schemeClr val="dk1"/>
                </a:solidFill>
              </a:rPr>
              <a:t>Évolutions contrastées selon les pays</a:t>
            </a:r>
            <a:r>
              <a:rPr lang="fr-FR" sz="1900">
                <a:solidFill>
                  <a:schemeClr val="dk1"/>
                </a:solidFill>
              </a:rPr>
              <a:t>, liées à des politiques publiques et des avancées technologiques plus ou moins ambitieuses.</a:t>
            </a:r>
            <a:endParaRPr sz="1900">
              <a:solidFill>
                <a:schemeClr val="dk1"/>
              </a:solidFill>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chemeClr val="dk1"/>
              </a:solidFill>
              <a:latin typeface="Arial"/>
              <a:ea typeface="Arial"/>
              <a:cs typeface="Arial"/>
              <a:sym typeface="Arial"/>
            </a:endParaRPr>
          </a:p>
          <a:p>
            <a:pPr indent="-349250" lvl="0" marL="457200" marR="0" rtl="0" algn="l">
              <a:lnSpc>
                <a:spcPct val="100000"/>
              </a:lnSpc>
              <a:spcBef>
                <a:spcPts val="0"/>
              </a:spcBef>
              <a:spcAft>
                <a:spcPts val="0"/>
              </a:spcAft>
              <a:buClr>
                <a:schemeClr val="dk1"/>
              </a:buClr>
              <a:buSzPts val="1900"/>
              <a:buFont typeface="Arial"/>
              <a:buChar char="●"/>
            </a:pPr>
            <a:r>
              <a:rPr b="1" i="0" lang="fr-FR" sz="1900" u="none" cap="none" strike="noStrike">
                <a:solidFill>
                  <a:schemeClr val="dk1"/>
                </a:solidFill>
                <a:latin typeface="Arial"/>
                <a:ea typeface="Arial"/>
                <a:cs typeface="Arial"/>
                <a:sym typeface="Arial"/>
              </a:rPr>
              <a:t>Résultats issus de plusieurs leviers combinés</a:t>
            </a:r>
            <a:r>
              <a:rPr b="0" i="0" lang="fr-FR" sz="1900" u="none" cap="none" strike="noStrike">
                <a:solidFill>
                  <a:schemeClr val="dk1"/>
                </a:solidFill>
                <a:latin typeface="Arial"/>
                <a:ea typeface="Arial"/>
                <a:cs typeface="Arial"/>
                <a:sym typeface="Arial"/>
              </a:rPr>
              <a:t> : réglementation, innovations du secteur automobile et évolution des comportements des usagers.</a:t>
            </a:r>
            <a:endParaRPr b="0" i="0" sz="19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sz="1900">
              <a:solidFill>
                <a:schemeClr val="dk1"/>
              </a:solidFill>
            </a:endParaRPr>
          </a:p>
          <a:p>
            <a:pPr indent="0" lvl="0" marL="457200" rtl="0" algn="l">
              <a:spcBef>
                <a:spcPts val="0"/>
              </a:spcBef>
              <a:spcAft>
                <a:spcPts val="0"/>
              </a:spcAft>
              <a:buNone/>
            </a:pPr>
            <a:r>
              <a:t/>
            </a:r>
            <a:endParaRPr sz="1900">
              <a:solidFill>
                <a:schemeClr val="dk1"/>
              </a:solidFill>
            </a:endParaRPr>
          </a:p>
        </p:txBody>
      </p:sp>
      <p:sp>
        <p:nvSpPr>
          <p:cNvPr id="112" name="Google Shape;112;p2"/>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27500"/>
              <a:buFont typeface="Arial"/>
              <a:buNone/>
            </a:pPr>
            <a:r>
              <a:rPr lang="fr-FR"/>
              <a:t>Évolution des émission de CO₂ </a:t>
            </a:r>
            <a:endParaRPr/>
          </a:p>
          <a:p>
            <a:pPr indent="0" lvl="0" marL="0" rtl="0" algn="l">
              <a:lnSpc>
                <a:spcPct val="90000"/>
              </a:lnSpc>
              <a:spcBef>
                <a:spcPts val="0"/>
              </a:spcBef>
              <a:spcAft>
                <a:spcPts val="0"/>
              </a:spcAft>
              <a:buSzPct val="38888"/>
              <a:buNone/>
            </a:pPr>
            <a:r>
              <a:rPr lang="fr-FR">
                <a:solidFill>
                  <a:srgbClr val="36733F"/>
                </a:solidFill>
              </a:rPr>
              <a:t>des véhicules en Europe</a:t>
            </a:r>
            <a:endParaRPr/>
          </a:p>
        </p:txBody>
      </p:sp>
      <p:sp>
        <p:nvSpPr>
          <p:cNvPr id="113" name="Google Shape;113;p2"/>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1" lang="fr-FR" sz="1800">
                <a:solidFill>
                  <a:srgbClr val="36733F"/>
                </a:solidFill>
              </a:rPr>
              <a:t>&gt; </a:t>
            </a:r>
            <a:r>
              <a:rPr b="1" i="0" lang="fr-FR" sz="1800" u="none" cap="none" strike="noStrike">
                <a:solidFill>
                  <a:schemeClr val="dk1"/>
                </a:solidFill>
              </a:rPr>
              <a:t>Introduction</a:t>
            </a:r>
            <a:r>
              <a:rPr b="1" i="0" lang="fr-FR" sz="1800" u="none" cap="none" strike="noStrike">
                <a:solidFill>
                  <a:schemeClr val="dk1"/>
                </a:solidFill>
                <a:latin typeface="Arial"/>
                <a:ea typeface="Arial"/>
                <a:cs typeface="Arial"/>
                <a:sym typeface="Arial"/>
              </a:rPr>
              <a:t> | </a:t>
            </a:r>
            <a:r>
              <a:rPr i="0" lang="fr-FR" sz="1800" u="none" cap="none" strike="noStrike">
                <a:solidFill>
                  <a:srgbClr val="A5A5A5"/>
                </a:solidFil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g3b531205846_0_31"/>
          <p:cNvSpPr txBox="1"/>
          <p:nvPr/>
        </p:nvSpPr>
        <p:spPr>
          <a:xfrm>
            <a:off x="551975" y="1790625"/>
            <a:ext cx="10520100" cy="26628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chemeClr val="dk1"/>
              </a:buClr>
              <a:buSzPts val="1900"/>
              <a:buFont typeface="Arial"/>
              <a:buChar char="●"/>
            </a:pPr>
            <a:r>
              <a:rPr b="1" i="0" lang="fr-FR" sz="1900" u="none" cap="none" strike="noStrike">
                <a:solidFill>
                  <a:schemeClr val="dk1"/>
                </a:solidFill>
                <a:latin typeface="Arial"/>
                <a:ea typeface="Arial"/>
                <a:cs typeface="Arial"/>
                <a:sym typeface="Arial"/>
              </a:rPr>
              <a:t>Source</a:t>
            </a:r>
            <a:r>
              <a:rPr b="0" i="0" lang="fr-FR" sz="1900" u="none" cap="none" strike="noStrike">
                <a:solidFill>
                  <a:schemeClr val="dk1"/>
                </a:solidFill>
                <a:latin typeface="Arial"/>
                <a:ea typeface="Arial"/>
                <a:cs typeface="Arial"/>
                <a:sym typeface="Arial"/>
              </a:rPr>
              <a:t> : plateforme </a:t>
            </a:r>
            <a:r>
              <a:rPr b="1" i="0" lang="fr-FR" sz="1900" u="none" cap="none" strike="noStrike">
                <a:solidFill>
                  <a:schemeClr val="dk1"/>
                </a:solidFill>
                <a:latin typeface="Arial"/>
                <a:ea typeface="Arial"/>
                <a:cs typeface="Arial"/>
                <a:sym typeface="Arial"/>
              </a:rPr>
              <a:t>CO₂ Cars</a:t>
            </a:r>
            <a:r>
              <a:rPr b="0" i="0" lang="fr-FR" sz="1900" u="none" cap="none" strike="noStrike">
                <a:solidFill>
                  <a:schemeClr val="dk1"/>
                </a:solidFill>
                <a:latin typeface="Arial"/>
                <a:ea typeface="Arial"/>
                <a:cs typeface="Arial"/>
                <a:sym typeface="Arial"/>
              </a:rPr>
              <a:t> de l’</a:t>
            </a:r>
            <a:r>
              <a:rPr b="1" i="0" lang="fr-FR" sz="1900" u="none" cap="none" strike="noStrike">
                <a:solidFill>
                  <a:schemeClr val="dk1"/>
                </a:solidFill>
                <a:latin typeface="Arial"/>
                <a:ea typeface="Arial"/>
                <a:cs typeface="Arial"/>
                <a:sym typeface="Arial"/>
              </a:rPr>
              <a:t>Agence européenne pour l’environnement (EEA) (</a:t>
            </a:r>
            <a:r>
              <a:rPr b="1" i="0" lang="fr-FR" sz="1900" u="sng" cap="none" strike="noStrike">
                <a:solidFill>
                  <a:schemeClr val="dk1"/>
                </a:solidFill>
                <a:latin typeface="Arial"/>
                <a:ea typeface="Arial"/>
                <a:cs typeface="Arial"/>
                <a:sym typeface="Arial"/>
                <a:hlinkClick r:id="rId3">
                  <a:extLst>
                    <a:ext uri="{A12FA001-AC4F-418D-AE19-62706E023703}">
                      <ahyp:hlinkClr val="tx"/>
                    </a:ext>
                  </a:extLst>
                </a:hlinkClick>
              </a:rPr>
              <a:t>https://co2cars.apps.eea.europa.eu/</a:t>
            </a:r>
            <a:r>
              <a:rPr b="1" i="0" lang="fr-FR" sz="19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900"/>
              <a:buFont typeface="Arial"/>
              <a:buNone/>
            </a:pPr>
            <a:r>
              <a:t/>
            </a:r>
            <a:endParaRPr b="1" i="0" sz="1900" u="none" cap="none" strike="noStrike">
              <a:solidFill>
                <a:schemeClr val="dk1"/>
              </a:solidFill>
              <a:latin typeface="Arial"/>
              <a:ea typeface="Arial"/>
              <a:cs typeface="Arial"/>
              <a:sym typeface="Arial"/>
            </a:endParaRPr>
          </a:p>
          <a:p>
            <a:pPr indent="-349250" lvl="0" marL="457200" marR="0" rtl="0" algn="l">
              <a:lnSpc>
                <a:spcPct val="100000"/>
              </a:lnSpc>
              <a:spcBef>
                <a:spcPts val="0"/>
              </a:spcBef>
              <a:spcAft>
                <a:spcPts val="0"/>
              </a:spcAft>
              <a:buClr>
                <a:schemeClr val="dk1"/>
              </a:buClr>
              <a:buSzPts val="1900"/>
              <a:buFont typeface="Arial"/>
              <a:buChar char="●"/>
            </a:pPr>
            <a:r>
              <a:rPr b="0" i="0" lang="fr-FR" sz="1900" u="none" cap="none" strike="noStrike">
                <a:solidFill>
                  <a:schemeClr val="dk1"/>
                </a:solidFill>
                <a:latin typeface="Arial"/>
                <a:ea typeface="Arial"/>
                <a:cs typeface="Arial"/>
                <a:sym typeface="Arial"/>
              </a:rPr>
              <a:t>Données sur les </a:t>
            </a:r>
            <a:r>
              <a:rPr b="1" i="0" lang="fr-FR" sz="1900" u="none" cap="none" strike="noStrike">
                <a:solidFill>
                  <a:schemeClr val="dk1"/>
                </a:solidFill>
                <a:latin typeface="Arial"/>
                <a:ea typeface="Arial"/>
                <a:cs typeface="Arial"/>
                <a:sym typeface="Arial"/>
              </a:rPr>
              <a:t>émissions de CO₂ des voitures neuves </a:t>
            </a:r>
            <a:r>
              <a:rPr b="1" lang="fr-FR" sz="1900">
                <a:solidFill>
                  <a:schemeClr val="dk1"/>
                </a:solidFill>
              </a:rPr>
              <a:t>homologuées</a:t>
            </a:r>
            <a:r>
              <a:rPr b="1" i="0" lang="fr-FR" sz="1900" u="none" cap="none" strike="noStrike">
                <a:solidFill>
                  <a:schemeClr val="dk1"/>
                </a:solidFill>
                <a:latin typeface="Arial"/>
                <a:ea typeface="Arial"/>
                <a:cs typeface="Arial"/>
                <a:sym typeface="Arial"/>
              </a:rPr>
              <a:t> en Europe</a:t>
            </a:r>
            <a:r>
              <a:rPr b="0" i="0" lang="fr-FR" sz="1900" u="none" cap="none" strike="noStrike">
                <a:solidFill>
                  <a:schemeClr val="dk1"/>
                </a:solidFill>
                <a:latin typeface="Arial"/>
                <a:ea typeface="Arial"/>
                <a:cs typeface="Arial"/>
                <a:sym typeface="Arial"/>
              </a:rPr>
              <a:t>, issues des tests </a:t>
            </a:r>
            <a:r>
              <a:rPr b="1" i="0" lang="fr-FR" sz="1900" u="none" cap="none" strike="noStrike">
                <a:solidFill>
                  <a:schemeClr val="dk1"/>
                </a:solidFill>
                <a:latin typeface="Arial"/>
                <a:ea typeface="Arial"/>
                <a:cs typeface="Arial"/>
                <a:sym typeface="Arial"/>
              </a:rPr>
              <a:t>WLTP</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900"/>
              <a:buFont typeface="Arial"/>
              <a:buNone/>
            </a:pPr>
            <a:r>
              <a:t/>
            </a:r>
            <a:endParaRPr b="0" i="0" sz="1500" u="none" cap="none" strike="noStrike">
              <a:solidFill>
                <a:schemeClr val="dk1"/>
              </a:solidFill>
              <a:latin typeface="Arial"/>
              <a:ea typeface="Arial"/>
              <a:cs typeface="Arial"/>
              <a:sym typeface="Arial"/>
            </a:endParaRPr>
          </a:p>
          <a:p>
            <a:pPr indent="-349250" lvl="0" marL="457200" marR="0" rtl="0" algn="l">
              <a:lnSpc>
                <a:spcPct val="100000"/>
              </a:lnSpc>
              <a:spcBef>
                <a:spcPts val="0"/>
              </a:spcBef>
              <a:spcAft>
                <a:spcPts val="0"/>
              </a:spcAft>
              <a:buClr>
                <a:schemeClr val="dk1"/>
              </a:buClr>
              <a:buSzPts val="1900"/>
              <a:buFont typeface="Arial"/>
              <a:buChar char="●"/>
            </a:pPr>
            <a:r>
              <a:rPr b="1" i="0" lang="fr-FR" sz="1900" u="none" cap="none" strike="noStrike">
                <a:solidFill>
                  <a:schemeClr val="dk1"/>
                </a:solidFill>
                <a:latin typeface="Arial"/>
                <a:ea typeface="Arial"/>
                <a:cs typeface="Arial"/>
                <a:sym typeface="Arial"/>
              </a:rPr>
              <a:t>WLTP</a:t>
            </a:r>
            <a:r>
              <a:rPr b="0" i="0" lang="fr-FR" sz="1900" u="none" cap="none" strike="noStrike">
                <a:solidFill>
                  <a:schemeClr val="dk1"/>
                </a:solidFill>
                <a:latin typeface="Arial"/>
                <a:ea typeface="Arial"/>
                <a:cs typeface="Arial"/>
                <a:sym typeface="Arial"/>
              </a:rPr>
              <a:t> -Worldwide Harmonised Light Vehicles Test Procedure - en place depuis 2017, obligatoire en 2018 : protocole européen plus réaliste, remplaçant le </a:t>
            </a:r>
            <a:r>
              <a:rPr b="1" i="0" lang="fr-FR" sz="1900" u="none" cap="none" strike="noStrike">
                <a:solidFill>
                  <a:schemeClr val="dk1"/>
                </a:solidFill>
                <a:latin typeface="Arial"/>
                <a:ea typeface="Arial"/>
                <a:cs typeface="Arial"/>
                <a:sym typeface="Arial"/>
              </a:rPr>
              <a:t>NEDC</a:t>
            </a:r>
            <a:r>
              <a:rPr b="0" i="0" lang="fr-FR" sz="1900" u="none" cap="none" strike="noStrike">
                <a:solidFill>
                  <a:schemeClr val="dk1"/>
                </a:solidFill>
                <a:latin typeface="Arial"/>
                <a:ea typeface="Arial"/>
                <a:cs typeface="Arial"/>
                <a:sym typeface="Arial"/>
              </a:rPr>
              <a:t> (</a:t>
            </a:r>
            <a:r>
              <a:rPr b="1" lang="fr-FR" sz="1900">
                <a:solidFill>
                  <a:schemeClr val="dk1"/>
                </a:solidFill>
                <a:latin typeface="Aptos"/>
                <a:ea typeface="Aptos"/>
                <a:cs typeface="Aptos"/>
                <a:sym typeface="Aptos"/>
              </a:rPr>
              <a:t>New European Driving Cycle</a:t>
            </a:r>
            <a:r>
              <a:rPr b="1" lang="fr-FR" sz="1200">
                <a:solidFill>
                  <a:schemeClr val="dk1"/>
                </a:solidFill>
                <a:latin typeface="Aptos"/>
                <a:ea typeface="Aptos"/>
                <a:cs typeface="Aptos"/>
                <a:sym typeface="Aptos"/>
              </a:rPr>
              <a:t> - </a:t>
            </a:r>
            <a:r>
              <a:rPr b="0" i="0" lang="fr-FR" sz="1900" u="none" cap="none" strike="noStrike">
                <a:solidFill>
                  <a:schemeClr val="dk1"/>
                </a:solidFill>
                <a:latin typeface="Arial"/>
                <a:ea typeface="Arial"/>
                <a:cs typeface="Arial"/>
                <a:sym typeface="Arial"/>
              </a:rPr>
              <a:t>1980)</a:t>
            </a:r>
            <a:endParaRPr b="0" i="0" sz="2100" u="none" cap="none" strike="noStrike">
              <a:solidFill>
                <a:schemeClr val="dk1"/>
              </a:solidFill>
              <a:latin typeface="Arial"/>
              <a:ea typeface="Arial"/>
              <a:cs typeface="Arial"/>
              <a:sym typeface="Arial"/>
            </a:endParaRPr>
          </a:p>
        </p:txBody>
      </p:sp>
      <p:sp>
        <p:nvSpPr>
          <p:cNvPr id="119" name="Google Shape;119;g3b531205846_0_31"/>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8888"/>
              <a:buFont typeface="Arial"/>
              <a:buNone/>
            </a:pPr>
            <a:r>
              <a:rPr lang="fr-FR"/>
              <a:t>Présentation du dataset CO2 </a:t>
            </a:r>
            <a:br>
              <a:rPr lang="fr-FR"/>
            </a:br>
            <a:r>
              <a:rPr lang="fr-FR">
                <a:solidFill>
                  <a:schemeClr val="accent3"/>
                </a:solidFill>
              </a:rPr>
              <a:t>Véhicules Europe</a:t>
            </a:r>
            <a:endParaRPr>
              <a:solidFill>
                <a:schemeClr val="accent3"/>
              </a:solidFill>
            </a:endParaRPr>
          </a:p>
        </p:txBody>
      </p:sp>
      <p:sp>
        <p:nvSpPr>
          <p:cNvPr id="120" name="Google Shape;120;g3b531205846_0_31"/>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sp>
        <p:nvSpPr>
          <p:cNvPr id="125" name="Google Shape;125;p3"/>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8"/>
              <a:buNone/>
            </a:pPr>
            <a:r>
              <a:rPr lang="fr-FR"/>
              <a:t>Exploration du dataset CO2</a:t>
            </a:r>
            <a:r>
              <a:rPr lang="fr-FR">
                <a:solidFill>
                  <a:srgbClr val="36733F"/>
                </a:solidFill>
              </a:rPr>
              <a:t> </a:t>
            </a:r>
            <a:endParaRPr>
              <a:solidFill>
                <a:srgbClr val="36733F"/>
              </a:solidFill>
            </a:endParaRPr>
          </a:p>
          <a:p>
            <a:pPr indent="0" lvl="0" marL="0" rtl="0" algn="l">
              <a:lnSpc>
                <a:spcPct val="90000"/>
              </a:lnSpc>
              <a:spcBef>
                <a:spcPts val="0"/>
              </a:spcBef>
              <a:spcAft>
                <a:spcPts val="0"/>
              </a:spcAft>
              <a:buClr>
                <a:schemeClr val="dk1"/>
              </a:buClr>
              <a:buSzPct val="39886"/>
              <a:buFont typeface="Arial"/>
              <a:buNone/>
            </a:pPr>
            <a:r>
              <a:rPr lang="fr-FR" sz="3900">
                <a:solidFill>
                  <a:schemeClr val="accent3"/>
                </a:solidFill>
              </a:rPr>
              <a:t>Chargement des données &amp; nettoyage initia</a:t>
            </a:r>
            <a:r>
              <a:rPr lang="fr-FR">
                <a:solidFill>
                  <a:schemeClr val="accent3"/>
                </a:solidFill>
              </a:rPr>
              <a:t>l</a:t>
            </a:r>
            <a:r>
              <a:rPr lang="fr-FR"/>
              <a:t>	</a:t>
            </a:r>
            <a:endParaRPr/>
          </a:p>
        </p:txBody>
      </p:sp>
      <p:pic>
        <p:nvPicPr>
          <p:cNvPr id="126" name="Google Shape;126;p3"/>
          <p:cNvPicPr preferRelativeResize="0"/>
          <p:nvPr/>
        </p:nvPicPr>
        <p:blipFill rotWithShape="1">
          <a:blip r:embed="rId3">
            <a:alphaModFix/>
          </a:blip>
          <a:srcRect b="-169860" l="0" r="0" t="169860"/>
          <a:stretch/>
        </p:blipFill>
        <p:spPr>
          <a:xfrm>
            <a:off x="152400" y="962658"/>
            <a:ext cx="7916725" cy="1017625"/>
          </a:xfrm>
          <a:prstGeom prst="rect">
            <a:avLst/>
          </a:prstGeom>
          <a:noFill/>
          <a:ln>
            <a:noFill/>
          </a:ln>
        </p:spPr>
      </p:pic>
      <p:sp>
        <p:nvSpPr>
          <p:cNvPr id="127" name="Google Shape;127;p3"/>
          <p:cNvSpPr txBox="1"/>
          <p:nvPr/>
        </p:nvSpPr>
        <p:spPr>
          <a:xfrm>
            <a:off x="611202" y="1535423"/>
            <a:ext cx="7489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Objectif : partir d’un jeu de données exploitable et cohérent.</a:t>
            </a:r>
            <a:endParaRPr b="1" i="0" sz="1800" u="none" cap="none" strike="noStrike">
              <a:solidFill>
                <a:schemeClr val="dk1"/>
              </a:solidFill>
              <a:latin typeface="Arial"/>
              <a:ea typeface="Arial"/>
              <a:cs typeface="Arial"/>
              <a:sym typeface="Arial"/>
            </a:endParaRPr>
          </a:p>
        </p:txBody>
      </p:sp>
      <p:sp>
        <p:nvSpPr>
          <p:cNvPr id="128" name="Google Shape;128;p3"/>
          <p:cNvSpPr txBox="1"/>
          <p:nvPr/>
        </p:nvSpPr>
        <p:spPr>
          <a:xfrm>
            <a:off x="211318" y="2433474"/>
            <a:ext cx="5388600" cy="31854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Arial"/>
              <a:buChar char="●"/>
            </a:pPr>
            <a:r>
              <a:rPr b="0" i="0" lang="fr-FR" sz="1900" u="none" cap="none" strike="noStrike">
                <a:solidFill>
                  <a:schemeClr val="dk1"/>
                </a:solidFill>
                <a:latin typeface="Arial"/>
                <a:ea typeface="Arial"/>
                <a:cs typeface="Arial"/>
                <a:sym typeface="Arial"/>
              </a:rPr>
              <a:t>Dataset initial : </a:t>
            </a:r>
            <a:r>
              <a:rPr b="1" i="0" lang="fr-FR" sz="1900" u="none" cap="none" strike="noStrike">
                <a:solidFill>
                  <a:schemeClr val="dk1"/>
                </a:solidFill>
                <a:latin typeface="Arial"/>
                <a:ea typeface="Arial"/>
                <a:cs typeface="Arial"/>
                <a:sym typeface="Arial"/>
              </a:rPr>
              <a:t>3,31 Go</a:t>
            </a:r>
            <a:r>
              <a:rPr b="0" i="0" lang="fr-FR" sz="1900" u="none" cap="none" strike="noStrike">
                <a:solidFill>
                  <a:schemeClr val="dk1"/>
                </a:solidFill>
                <a:latin typeface="Arial"/>
                <a:ea typeface="Arial"/>
                <a:cs typeface="Arial"/>
                <a:sym typeface="Arial"/>
              </a:rPr>
              <a:t>, </a:t>
            </a:r>
            <a:r>
              <a:rPr b="1" i="0" lang="fr-FR" sz="1900" u="none" cap="none" strike="noStrike">
                <a:solidFill>
                  <a:schemeClr val="dk1"/>
                </a:solidFill>
                <a:latin typeface="Arial"/>
                <a:ea typeface="Arial"/>
                <a:cs typeface="Arial"/>
                <a:sym typeface="Arial"/>
              </a:rPr>
              <a:t>~10,8 M lignes</a:t>
            </a:r>
            <a:r>
              <a:rPr b="0" i="0" lang="fr-FR" sz="1900" u="none" cap="none" strike="noStrike">
                <a:solidFill>
                  <a:schemeClr val="dk1"/>
                </a:solidFill>
                <a:latin typeface="Arial"/>
                <a:ea typeface="Arial"/>
                <a:cs typeface="Arial"/>
                <a:sym typeface="Arial"/>
              </a:rPr>
              <a:t>, </a:t>
            </a:r>
            <a:r>
              <a:rPr b="1" i="0" lang="fr-FR" sz="1900" u="none" cap="none" strike="noStrike">
                <a:solidFill>
                  <a:schemeClr val="dk1"/>
                </a:solidFill>
                <a:latin typeface="Arial"/>
                <a:ea typeface="Arial"/>
                <a:cs typeface="Arial"/>
                <a:sym typeface="Arial"/>
              </a:rPr>
              <a:t>40 colonnes</a:t>
            </a:r>
            <a:r>
              <a:rPr b="0" i="0" lang="fr-FR" sz="1900" u="none" cap="none" strike="noStrike">
                <a:solidFill>
                  <a:schemeClr val="dk1"/>
                </a:solidFill>
                <a:latin typeface="Arial"/>
                <a:ea typeface="Arial"/>
                <a:cs typeface="Arial"/>
                <a:sym typeface="Arial"/>
              </a:rPr>
              <a:t> → conversion en </a:t>
            </a:r>
            <a:r>
              <a:rPr b="1" i="0" lang="fr-FR" sz="1900" u="none" cap="none" strike="noStrike">
                <a:solidFill>
                  <a:schemeClr val="dk1"/>
                </a:solidFill>
                <a:latin typeface="Arial"/>
                <a:ea typeface="Arial"/>
                <a:cs typeface="Arial"/>
                <a:sym typeface="Arial"/>
              </a:rPr>
              <a:t>Parquet (237 Mo)</a:t>
            </a:r>
            <a:r>
              <a:rPr b="0" i="0" lang="fr-FR" sz="1900" u="none" cap="none" strike="noStrike">
                <a:solidFill>
                  <a:schemeClr val="dk1"/>
                </a:solidFill>
                <a:latin typeface="Arial"/>
                <a:ea typeface="Arial"/>
                <a:cs typeface="Arial"/>
                <a:sym typeface="Arial"/>
              </a:rPr>
              <a:t> pour accélérer la lecture.</a:t>
            </a:r>
            <a:endParaRPr b="0" i="0" sz="1900" u="none" cap="none" strike="noStrike">
              <a:solidFill>
                <a:schemeClr val="dk1"/>
              </a:solidFill>
              <a:latin typeface="Arial"/>
              <a:ea typeface="Arial"/>
              <a:cs typeface="Arial"/>
              <a:sym typeface="Arial"/>
            </a:endParaRPr>
          </a:p>
          <a:p>
            <a:pPr indent="0" lvl="0" marL="12700" marR="0" rtl="0" algn="l">
              <a:lnSpc>
                <a:spcPct val="115000"/>
              </a:lnSpc>
              <a:spcBef>
                <a:spcPts val="0"/>
              </a:spcBef>
              <a:spcAft>
                <a:spcPts val="0"/>
              </a:spcAft>
              <a:buClr>
                <a:srgbClr val="000000"/>
              </a:buClr>
              <a:buSzPts val="19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1" i="0" lang="fr-FR" sz="1900" u="none" cap="none" strike="noStrike">
                <a:solidFill>
                  <a:schemeClr val="dk1"/>
                </a:solidFill>
                <a:latin typeface="Arial"/>
                <a:ea typeface="Arial"/>
                <a:cs typeface="Arial"/>
                <a:sym typeface="Arial"/>
              </a:rPr>
              <a:t>Nettoyage des données</a:t>
            </a:r>
            <a:r>
              <a:rPr b="0" i="0" lang="fr-FR" sz="1900" u="none" cap="none" strike="noStrike">
                <a:solidFill>
                  <a:schemeClr val="dk1"/>
                </a:solidFill>
                <a:latin typeface="Arial"/>
                <a:ea typeface="Arial"/>
                <a:cs typeface="Arial"/>
                <a:sym typeface="Arial"/>
              </a:rPr>
              <a:t> :</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fr-FR" sz="1900" u="none" cap="none" strike="noStrike">
                <a:solidFill>
                  <a:schemeClr val="dk1"/>
                </a:solidFill>
                <a:latin typeface="Arial"/>
                <a:ea typeface="Arial"/>
                <a:cs typeface="Arial"/>
                <a:sym typeface="Arial"/>
              </a:rPr>
              <a:t>75 % des colonnes avec valeurs manquantes. </a:t>
            </a:r>
            <a:r>
              <a:rPr lang="fr-FR" sz="1900">
                <a:solidFill>
                  <a:schemeClr val="dk1"/>
                </a:solidFill>
              </a:rPr>
              <a:t>(dont 8 à 100 % manquantes)</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fr-FR" sz="1900" u="none" cap="none" strike="noStrike">
                <a:solidFill>
                  <a:schemeClr val="dk1"/>
                </a:solidFill>
                <a:latin typeface="Arial"/>
                <a:ea typeface="Arial"/>
                <a:cs typeface="Arial"/>
                <a:sym typeface="Arial"/>
              </a:rPr>
              <a:t>Suppression des colonnes non pertinentes </a:t>
            </a:r>
            <a:endParaRPr b="0" i="0" sz="19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129" name="Google Shape;129;p3"/>
          <p:cNvSpPr txBox="1"/>
          <p:nvPr/>
        </p:nvSpPr>
        <p:spPr>
          <a:xfrm>
            <a:off x="6490952" y="2433474"/>
            <a:ext cx="4814100" cy="28314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Arial"/>
              <a:buChar char="●"/>
            </a:pPr>
            <a:r>
              <a:rPr b="0" i="0" lang="fr-FR" sz="1900" u="none" cap="none" strike="noStrike">
                <a:solidFill>
                  <a:schemeClr val="dk1"/>
                </a:solidFill>
                <a:latin typeface="Arial"/>
                <a:ea typeface="Arial"/>
                <a:cs typeface="Arial"/>
                <a:sym typeface="Arial"/>
              </a:rPr>
              <a:t>Suppression des véhicules avec </a:t>
            </a:r>
            <a:r>
              <a:rPr b="1" i="0" lang="fr-FR" sz="1900" u="none" cap="none" strike="noStrike">
                <a:solidFill>
                  <a:schemeClr val="dk1"/>
                </a:solidFill>
                <a:latin typeface="Arial"/>
                <a:ea typeface="Arial"/>
                <a:cs typeface="Arial"/>
                <a:sym typeface="Arial"/>
              </a:rPr>
              <a:t>type de carburant </a:t>
            </a:r>
            <a:r>
              <a:rPr b="1" lang="fr-FR" sz="1900">
                <a:solidFill>
                  <a:schemeClr val="dk1"/>
                </a:solidFill>
              </a:rPr>
              <a:t>“</a:t>
            </a:r>
            <a:r>
              <a:rPr b="1" i="0" lang="fr-FR" sz="1900" u="none" cap="none" strike="noStrike">
                <a:solidFill>
                  <a:schemeClr val="dk1"/>
                </a:solidFill>
                <a:latin typeface="Arial"/>
                <a:ea typeface="Arial"/>
                <a:cs typeface="Arial"/>
                <a:sym typeface="Arial"/>
              </a:rPr>
              <a:t>inconnu</a:t>
            </a:r>
            <a:r>
              <a:rPr b="1" lang="fr-FR" sz="1900">
                <a:solidFill>
                  <a:schemeClr val="dk1"/>
                </a:solidFill>
              </a:rPr>
              <a:t>”</a:t>
            </a:r>
            <a:r>
              <a:rPr b="1" i="0" lang="fr-FR" sz="1900" u="none" cap="none" strike="noStrike">
                <a:solidFill>
                  <a:schemeClr val="dk1"/>
                </a:solidFill>
                <a:latin typeface="Arial"/>
                <a:ea typeface="Arial"/>
                <a:cs typeface="Arial"/>
                <a:sym typeface="Arial"/>
              </a:rPr>
              <a:t>.</a:t>
            </a:r>
            <a:endParaRPr b="1" i="0" sz="19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800"/>
              <a:buFont typeface="Arial"/>
              <a:buNone/>
            </a:pPr>
            <a:r>
              <a:t/>
            </a:r>
            <a:endParaRPr b="1"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fr-FR" sz="1900" u="none" cap="none" strike="noStrike">
                <a:solidFill>
                  <a:schemeClr val="dk1"/>
                </a:solidFill>
                <a:latin typeface="Arial"/>
                <a:ea typeface="Arial"/>
                <a:cs typeface="Arial"/>
                <a:sym typeface="Arial"/>
              </a:rPr>
              <a:t>Élimination de nombreuses variables techniques peu exploitables ou peu pertinentes.</a:t>
            </a:r>
            <a:endParaRPr b="0" i="0" sz="19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None/>
            </a:pPr>
            <a:r>
              <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fr-FR" sz="1900">
                <a:solidFill>
                  <a:schemeClr val="dk1"/>
                </a:solidFill>
              </a:rPr>
              <a:t>Réduction à </a:t>
            </a:r>
            <a:r>
              <a:rPr b="1" lang="fr-FR" sz="1900">
                <a:solidFill>
                  <a:schemeClr val="dk1"/>
                </a:solidFill>
              </a:rPr>
              <a:t>10 colonnes</a:t>
            </a:r>
            <a:r>
              <a:rPr lang="fr-FR" sz="1900">
                <a:solidFill>
                  <a:schemeClr val="dk1"/>
                </a:solidFill>
              </a:rPr>
              <a:t> utiles</a:t>
            </a:r>
            <a:endParaRPr sz="1900">
              <a:solidFill>
                <a:schemeClr val="dk1"/>
              </a:solidFill>
            </a:endParaRPr>
          </a:p>
        </p:txBody>
      </p:sp>
      <p:pic>
        <p:nvPicPr>
          <p:cNvPr descr="Mille avec un remplissage uni" id="130" name="Google Shape;130;p3"/>
          <p:cNvPicPr preferRelativeResize="0"/>
          <p:nvPr/>
        </p:nvPicPr>
        <p:blipFill rotWithShape="1">
          <a:blip r:embed="rId4">
            <a:alphaModFix/>
          </a:blip>
          <a:srcRect b="0" l="0" r="0" t="0"/>
          <a:stretch/>
        </p:blipFill>
        <p:spPr>
          <a:xfrm>
            <a:off x="133625" y="1518593"/>
            <a:ext cx="461700" cy="461700"/>
          </a:xfrm>
          <a:prstGeom prst="rect">
            <a:avLst/>
          </a:prstGeom>
          <a:noFill/>
          <a:ln>
            <a:noFill/>
          </a:ln>
        </p:spPr>
      </p:pic>
      <p:sp>
        <p:nvSpPr>
          <p:cNvPr id="131" name="Google Shape;131;p3"/>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5"/>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8"/>
              <a:buNone/>
            </a:pPr>
            <a:r>
              <a:rPr lang="fr-FR"/>
              <a:t>Exploration du dataset CO2</a:t>
            </a:r>
            <a:r>
              <a:rPr lang="fr-FR">
                <a:solidFill>
                  <a:srgbClr val="36733F"/>
                </a:solidFill>
              </a:rPr>
              <a:t> </a:t>
            </a:r>
            <a:endParaRPr>
              <a:solidFill>
                <a:srgbClr val="36733F"/>
              </a:solidFill>
            </a:endParaRPr>
          </a:p>
          <a:p>
            <a:pPr indent="0" lvl="0" marL="0" rtl="0" algn="l">
              <a:lnSpc>
                <a:spcPct val="90000"/>
              </a:lnSpc>
              <a:spcBef>
                <a:spcPts val="0"/>
              </a:spcBef>
              <a:spcAft>
                <a:spcPts val="0"/>
              </a:spcAft>
              <a:buClr>
                <a:schemeClr val="dk1"/>
              </a:buClr>
              <a:buSzPct val="39886"/>
              <a:buFont typeface="Arial"/>
              <a:buNone/>
            </a:pPr>
            <a:r>
              <a:rPr lang="fr-FR" sz="3900">
                <a:solidFill>
                  <a:schemeClr val="accent3"/>
                </a:solidFill>
              </a:rPr>
              <a:t>Harmonisation &amp; standardisation</a:t>
            </a:r>
            <a:endParaRPr sz="3900"/>
          </a:p>
        </p:txBody>
      </p:sp>
      <p:sp>
        <p:nvSpPr>
          <p:cNvPr id="137" name="Google Shape;137;p5"/>
          <p:cNvSpPr txBox="1"/>
          <p:nvPr/>
        </p:nvSpPr>
        <p:spPr>
          <a:xfrm>
            <a:off x="586971" y="1554824"/>
            <a:ext cx="9105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rgbClr val="000000"/>
                </a:solidFill>
                <a:latin typeface="Arial"/>
                <a:ea typeface="Arial"/>
                <a:cs typeface="Arial"/>
                <a:sym typeface="Arial"/>
              </a:rPr>
              <a:t>Objectif : fiabiliser les analyses exploratoires.</a:t>
            </a:r>
            <a:endParaRPr b="0" i="0" sz="1400" u="none" cap="none" strike="noStrike">
              <a:solidFill>
                <a:srgbClr val="000000"/>
              </a:solidFill>
              <a:latin typeface="Arial"/>
              <a:ea typeface="Arial"/>
              <a:cs typeface="Arial"/>
              <a:sym typeface="Arial"/>
            </a:endParaRPr>
          </a:p>
        </p:txBody>
      </p:sp>
      <p:sp>
        <p:nvSpPr>
          <p:cNvPr id="138" name="Google Shape;138;p5"/>
          <p:cNvSpPr txBox="1"/>
          <p:nvPr/>
        </p:nvSpPr>
        <p:spPr>
          <a:xfrm>
            <a:off x="428800" y="1983050"/>
            <a:ext cx="5541300" cy="38481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Normalisation des noms de </a:t>
            </a:r>
            <a:r>
              <a:rPr b="1" i="0" lang="fr-FR" sz="1800" u="none" cap="none" strike="noStrike">
                <a:solidFill>
                  <a:srgbClr val="000000"/>
                </a:solidFill>
                <a:latin typeface="Arial"/>
                <a:ea typeface="Arial"/>
                <a:cs typeface="Arial"/>
                <a:sym typeface="Arial"/>
              </a:rPr>
              <a:t>constructeurs</a:t>
            </a:r>
            <a:r>
              <a:rPr b="0" i="0" lang="fr-FR" sz="1800" u="none" cap="none" strike="noStrike">
                <a:solidFill>
                  <a:srgbClr val="000000"/>
                </a:solidFill>
                <a:latin typeface="Arial"/>
                <a:ea typeface="Arial"/>
                <a:cs typeface="Arial"/>
                <a:sym typeface="Arial"/>
              </a:rPr>
              <a:t> (corrections d’erreurs, regroupements, abréviations).</a:t>
            </a:r>
            <a:endParaRPr b="0" i="0" sz="18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p>
          <a:p>
            <a:pPr indent="-342900" lvl="1" marL="9144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Exemple avec la marque </a:t>
            </a:r>
            <a:r>
              <a:rPr b="0" i="0" lang="fr-FR" sz="1800" u="none" cap="none" strike="noStrike">
                <a:solidFill>
                  <a:schemeClr val="dk1"/>
                </a:solidFill>
                <a:latin typeface="Arial"/>
                <a:ea typeface="Arial"/>
                <a:cs typeface="Arial"/>
                <a:sym typeface="Arial"/>
              </a:rPr>
              <a:t>LAMBORGHINI </a:t>
            </a:r>
            <a:r>
              <a:rPr b="0" i="0" lang="fr-FR" sz="1800" u="none" cap="none" strike="noStrike">
                <a:solidFill>
                  <a:srgbClr val="000000"/>
                </a:solidFill>
                <a:latin typeface="Arial"/>
                <a:ea typeface="Arial"/>
                <a:cs typeface="Arial"/>
                <a:sym typeface="Arial"/>
              </a:rPr>
              <a:t>: </a:t>
            </a:r>
            <a:endParaRPr sz="1800"/>
          </a:p>
          <a:p>
            <a:pPr indent="-342900" lvl="2" marL="1371600" marR="0" rtl="0" algn="l">
              <a:lnSpc>
                <a:spcPct val="100000"/>
              </a:lnSpc>
              <a:spcBef>
                <a:spcPts val="0"/>
              </a:spcBef>
              <a:spcAft>
                <a:spcPts val="0"/>
              </a:spcAft>
              <a:buClr>
                <a:srgbClr val="000000"/>
              </a:buClr>
              <a:buSzPts val="1800"/>
              <a:buFont typeface="Arial"/>
              <a:buChar char="■"/>
            </a:pPr>
            <a:r>
              <a:rPr b="0" i="0" lang="fr-FR" sz="1300" u="none" cap="none" strike="noStrike">
                <a:solidFill>
                  <a:schemeClr val="dk1"/>
                </a:solidFill>
                <a:latin typeface="Arial"/>
                <a:ea typeface="Arial"/>
                <a:cs typeface="Arial"/>
                <a:sym typeface="Arial"/>
              </a:rPr>
              <a:t>"AUTOMOBILI LAMBORGHINI"       </a:t>
            </a:r>
            <a:endParaRPr sz="1300">
              <a:solidFill>
                <a:schemeClr val="dk1"/>
              </a:solidFill>
            </a:endParaRPr>
          </a:p>
          <a:p>
            <a:pPr indent="-342900" lvl="2" marL="1371600" marR="0" rtl="0" algn="l">
              <a:lnSpc>
                <a:spcPct val="100000"/>
              </a:lnSpc>
              <a:spcBef>
                <a:spcPts val="0"/>
              </a:spcBef>
              <a:spcAft>
                <a:spcPts val="0"/>
              </a:spcAft>
              <a:buClr>
                <a:srgbClr val="000000"/>
              </a:buClr>
              <a:buSzPts val="1800"/>
              <a:buFont typeface="Arial"/>
              <a:buChar char="■"/>
            </a:pPr>
            <a:r>
              <a:rPr b="0" i="0" lang="fr-FR" sz="1300" u="none" cap="none" strike="noStrike">
                <a:solidFill>
                  <a:schemeClr val="dk1"/>
                </a:solidFill>
                <a:latin typeface="Arial"/>
                <a:ea typeface="Arial"/>
                <a:cs typeface="Arial"/>
                <a:sym typeface="Arial"/>
              </a:rPr>
              <a:t>"AUTOMOBILI LAMBORGHINI S."     </a:t>
            </a:r>
            <a:endParaRPr sz="1300">
              <a:solidFill>
                <a:schemeClr val="dk1"/>
              </a:solidFill>
            </a:endParaRPr>
          </a:p>
          <a:p>
            <a:pPr indent="-342900" lvl="2" marL="1371600" marR="0" rtl="0" algn="l">
              <a:lnSpc>
                <a:spcPct val="100000"/>
              </a:lnSpc>
              <a:spcBef>
                <a:spcPts val="0"/>
              </a:spcBef>
              <a:spcAft>
                <a:spcPts val="0"/>
              </a:spcAft>
              <a:buClr>
                <a:srgbClr val="000000"/>
              </a:buClr>
              <a:buSzPts val="1800"/>
              <a:buFont typeface="Arial"/>
              <a:buChar char="■"/>
            </a:pPr>
            <a:r>
              <a:rPr b="0" i="0" lang="fr-FR" sz="1300" u="none" cap="none" strike="noStrike">
                <a:solidFill>
                  <a:schemeClr val="dk1"/>
                </a:solidFill>
                <a:latin typeface="Arial"/>
                <a:ea typeface="Arial"/>
                <a:cs typeface="Arial"/>
                <a:sym typeface="Arial"/>
              </a:rPr>
              <a:t>"AUTOMOBILI LAMBORGHINI S.P.A."</a:t>
            </a:r>
            <a:endParaRPr sz="1300">
              <a:solidFill>
                <a:schemeClr val="dk1"/>
              </a:solidFill>
            </a:endParaRPr>
          </a:p>
          <a:p>
            <a:pPr indent="-342900" lvl="2" marL="1371600" marR="0" rtl="0" algn="l">
              <a:lnSpc>
                <a:spcPct val="100000"/>
              </a:lnSpc>
              <a:spcBef>
                <a:spcPts val="0"/>
              </a:spcBef>
              <a:spcAft>
                <a:spcPts val="0"/>
              </a:spcAft>
              <a:buClr>
                <a:srgbClr val="000000"/>
              </a:buClr>
              <a:buSzPts val="1800"/>
              <a:buFont typeface="Arial"/>
              <a:buChar char="■"/>
            </a:pPr>
            <a:r>
              <a:rPr b="0" i="0" lang="fr-FR" sz="1300" u="none" cap="none" strike="noStrike">
                <a:solidFill>
                  <a:schemeClr val="dk1"/>
                </a:solidFill>
                <a:latin typeface="Arial"/>
                <a:ea typeface="Arial"/>
                <a:cs typeface="Arial"/>
                <a:sym typeface="Arial"/>
              </a:rPr>
              <a:t>"AUTOMOBILI LAMBORGHINI S.P.A"  </a:t>
            </a:r>
            <a:endParaRPr sz="1300">
              <a:solidFill>
                <a:schemeClr val="dk1"/>
              </a:solidFill>
            </a:endParaRPr>
          </a:p>
          <a:p>
            <a:pPr indent="-342900" lvl="2" marL="1371600" marR="0" rtl="0" algn="l">
              <a:lnSpc>
                <a:spcPct val="100000"/>
              </a:lnSpc>
              <a:spcBef>
                <a:spcPts val="0"/>
              </a:spcBef>
              <a:spcAft>
                <a:spcPts val="0"/>
              </a:spcAft>
              <a:buClr>
                <a:srgbClr val="000000"/>
              </a:buClr>
              <a:buSzPts val="1800"/>
              <a:buFont typeface="Arial"/>
              <a:buChar char="■"/>
            </a:pPr>
            <a:r>
              <a:rPr b="0" i="0" lang="fr-FR" sz="1300" u="none" cap="none" strike="noStrike">
                <a:solidFill>
                  <a:schemeClr val="dk1"/>
                </a:solidFill>
                <a:latin typeface="Arial"/>
                <a:ea typeface="Arial"/>
                <a:cs typeface="Arial"/>
                <a:sym typeface="Arial"/>
              </a:rPr>
              <a:t>"AUTOMOBILI LAMBORGHIN"        </a:t>
            </a:r>
            <a:endParaRPr sz="1300">
              <a:solidFill>
                <a:schemeClr val="dk1"/>
              </a:solidFill>
            </a:endParaRPr>
          </a:p>
          <a:p>
            <a:pPr indent="-342900" lvl="2" marL="1371600" marR="0" rtl="0" algn="l">
              <a:lnSpc>
                <a:spcPct val="100000"/>
              </a:lnSpc>
              <a:spcBef>
                <a:spcPts val="0"/>
              </a:spcBef>
              <a:spcAft>
                <a:spcPts val="0"/>
              </a:spcAft>
              <a:buClr>
                <a:srgbClr val="000000"/>
              </a:buClr>
              <a:buSzPts val="1800"/>
              <a:buFont typeface="Arial"/>
              <a:buChar char="■"/>
            </a:pPr>
            <a:r>
              <a:rPr b="0" i="0" lang="fr-FR" sz="1300" u="none" cap="none" strike="noStrike">
                <a:solidFill>
                  <a:schemeClr val="dk1"/>
                </a:solidFill>
                <a:latin typeface="Arial"/>
                <a:ea typeface="Arial"/>
                <a:cs typeface="Arial"/>
                <a:sym typeface="Arial"/>
              </a:rPr>
              <a:t>"AUTOMOBILI LAMBORGHINI SPA"</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ille avec un remplissage uni" id="139" name="Google Shape;139;p5"/>
          <p:cNvPicPr preferRelativeResize="0"/>
          <p:nvPr/>
        </p:nvPicPr>
        <p:blipFill rotWithShape="1">
          <a:blip r:embed="rId3">
            <a:alphaModFix/>
          </a:blip>
          <a:srcRect b="0" l="0" r="0" t="0"/>
          <a:stretch/>
        </p:blipFill>
        <p:spPr>
          <a:xfrm>
            <a:off x="133625" y="1518593"/>
            <a:ext cx="461700" cy="461700"/>
          </a:xfrm>
          <a:prstGeom prst="rect">
            <a:avLst/>
          </a:prstGeom>
          <a:noFill/>
          <a:ln>
            <a:noFill/>
          </a:ln>
        </p:spPr>
      </p:pic>
      <p:sp>
        <p:nvSpPr>
          <p:cNvPr id="140" name="Google Shape;140;p5"/>
          <p:cNvSpPr txBox="1"/>
          <p:nvPr/>
        </p:nvSpPr>
        <p:spPr>
          <a:xfrm>
            <a:off x="5901208" y="1963403"/>
            <a:ext cx="6290700" cy="40944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Mapping des </a:t>
            </a:r>
            <a:r>
              <a:rPr b="1" i="0" lang="fr-FR" sz="1800" u="none" cap="none" strike="noStrike">
                <a:solidFill>
                  <a:srgbClr val="000000"/>
                </a:solidFill>
                <a:latin typeface="Arial"/>
                <a:ea typeface="Arial"/>
                <a:cs typeface="Arial"/>
                <a:sym typeface="Arial"/>
              </a:rPr>
              <a:t>codes constructeurs</a:t>
            </a:r>
            <a:r>
              <a:rPr b="0" i="0" lang="fr-FR" sz="1800" u="none" cap="none" strike="noStrike">
                <a:solidFill>
                  <a:srgbClr val="000000"/>
                </a:solidFill>
                <a:latin typeface="Arial"/>
                <a:ea typeface="Arial"/>
                <a:cs typeface="Arial"/>
                <a:sym typeface="Arial"/>
              </a:rPr>
              <a:t> vers des libellés lisibles.</a:t>
            </a:r>
            <a:endParaRPr/>
          </a:p>
          <a:p>
            <a:pPr indent="-22860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17500" lvl="1" marL="137160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"1103" = "SMART"</a:t>
            </a:r>
            <a:endParaRPr/>
          </a:p>
          <a:p>
            <a:pPr indent="-317500" lvl="1" marL="137160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"122"  = "VOLVO"</a:t>
            </a:r>
            <a:endParaRPr/>
          </a:p>
          <a:p>
            <a:pPr indent="-317500" lvl="1" marL="137160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"124"  = "VOLKSWAGEN"</a:t>
            </a:r>
            <a:endParaRPr/>
          </a:p>
          <a:p>
            <a:pPr indent="-317500" lvl="1" marL="137160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"15"    = "BMW"</a:t>
            </a:r>
            <a:endParaRPr/>
          </a:p>
          <a:p>
            <a:pPr indent="0" lvl="0" marL="11430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fr-FR" sz="1800" u="none" cap="none" strike="noStrike">
                <a:solidFill>
                  <a:schemeClr val="dk1"/>
                </a:solidFill>
                <a:latin typeface="Arial"/>
                <a:ea typeface="Arial"/>
                <a:cs typeface="Arial"/>
                <a:sym typeface="Arial"/>
              </a:rPr>
              <a:t>Regroupement des types de carburants en catégories cohérentes : </a:t>
            </a:r>
            <a:endParaRPr b="0" i="0" sz="1400" u="none" cap="none" strike="noStrike">
              <a:solidFill>
                <a:schemeClr val="dk1"/>
              </a:solidFill>
              <a:latin typeface="Arial"/>
              <a:ea typeface="Arial"/>
              <a:cs typeface="Arial"/>
              <a:sym typeface="Arial"/>
            </a:endParaRPr>
          </a:p>
          <a:p>
            <a:pPr indent="0" lvl="8" marL="457200" marR="0" rtl="0" algn="l">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Arial"/>
                <a:ea typeface="Arial"/>
                <a:cs typeface="Arial"/>
                <a:sym typeface="Arial"/>
              </a:rPr>
              <a:t>Diesel, Essence, Électrique, Hybride/Diesel, Hybride/ Essence, Autres.</a:t>
            </a:r>
            <a:endParaRPr b="0" i="0" sz="1400" u="none" cap="none" strike="noStrike">
              <a:solidFill>
                <a:schemeClr val="dk1"/>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fr-FR" sz="1800" u="none" cap="none" strike="noStrike">
                <a:solidFill>
                  <a:schemeClr val="dk1"/>
                </a:solidFill>
                <a:latin typeface="Arial"/>
                <a:ea typeface="Arial"/>
                <a:cs typeface="Arial"/>
                <a:sym typeface="Arial"/>
              </a:rPr>
              <a:t>Renommage clair des variables pour améliorer la </a:t>
            </a:r>
            <a:r>
              <a:rPr b="1" i="0" lang="fr-FR" sz="1800" u="none" cap="none" strike="noStrike">
                <a:solidFill>
                  <a:schemeClr val="dk1"/>
                </a:solidFill>
                <a:latin typeface="Arial"/>
                <a:ea typeface="Arial"/>
                <a:cs typeface="Arial"/>
                <a:sym typeface="Arial"/>
              </a:rPr>
              <a:t>lisibilité et l’interprétabilité</a:t>
            </a:r>
            <a:r>
              <a:rPr b="0" i="0" lang="fr-FR"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41" name="Google Shape;141;p5"/>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6"/>
          <p:cNvSpPr txBox="1"/>
          <p:nvPr/>
        </p:nvSpPr>
        <p:spPr>
          <a:xfrm>
            <a:off x="6408189" y="2400874"/>
            <a:ext cx="5070000" cy="31401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Catégorisation de la </a:t>
            </a:r>
            <a:r>
              <a:rPr b="1" i="0" lang="fr-FR" sz="1800" u="none" cap="none" strike="noStrike">
                <a:solidFill>
                  <a:srgbClr val="000000"/>
                </a:solidFill>
                <a:latin typeface="Arial"/>
                <a:ea typeface="Arial"/>
                <a:cs typeface="Arial"/>
                <a:sym typeface="Arial"/>
              </a:rPr>
              <a:t>puissance moteur (kW)</a:t>
            </a:r>
            <a:r>
              <a:rPr b="0" i="0" lang="fr-FR" sz="1800" u="none" cap="none" strike="noStrike">
                <a:solidFill>
                  <a:srgbClr val="000000"/>
                </a:solidFill>
                <a:latin typeface="Arial"/>
                <a:ea typeface="Arial"/>
                <a:cs typeface="Arial"/>
                <a:sym typeface="Arial"/>
              </a:rPr>
              <a:t> en quartiles (faible → très puissant).</a:t>
            </a:r>
            <a:endParaRPr b="0" i="0" sz="18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p>
          <a:p>
            <a:pPr indent="-342900" lvl="0" marL="457200" marR="0" rtl="0" algn="l">
              <a:lnSpc>
                <a:spcPct val="100000"/>
              </a:lnSpc>
              <a:spcBef>
                <a:spcPts val="0"/>
              </a:spcBef>
              <a:spcAft>
                <a:spcPts val="0"/>
              </a:spcAft>
              <a:buSzPts val="1800"/>
              <a:buChar char="●"/>
            </a:pPr>
            <a:r>
              <a:rPr lang="fr-FR" sz="1800"/>
              <a:t>Conversion des Abréviations </a:t>
            </a:r>
            <a:r>
              <a:rPr b="1" lang="fr-FR" sz="1800"/>
              <a:t>Pays </a:t>
            </a:r>
            <a:r>
              <a:rPr lang="fr-FR" sz="1800"/>
              <a:t> en nom complet. (FR </a:t>
            </a:r>
            <a:r>
              <a:rPr b="1" lang="fr-FR" sz="1800">
                <a:solidFill>
                  <a:schemeClr val="dk1"/>
                </a:solidFill>
              </a:rPr>
              <a:t>→ </a:t>
            </a:r>
            <a:r>
              <a:rPr lang="fr-FR" sz="1800"/>
              <a:t>France, NO </a:t>
            </a:r>
            <a:r>
              <a:rPr b="1" lang="fr-FR" sz="1800">
                <a:solidFill>
                  <a:schemeClr val="dk1"/>
                </a:solidFill>
              </a:rPr>
              <a:t>→ </a:t>
            </a:r>
            <a:r>
              <a:rPr lang="fr-FR" sz="1800"/>
              <a:t>Norway…)</a:t>
            </a:r>
            <a:endParaRPr sz="1800"/>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Ces variables facilitent :</a:t>
            </a:r>
            <a:endParaRPr b="0" i="0" sz="18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p>
          <a:p>
            <a:pPr indent="0" lvl="1"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Arial"/>
                <a:ea typeface="Arial"/>
                <a:cs typeface="Arial"/>
                <a:sym typeface="Arial"/>
              </a:rPr>
              <a:t>	- L’analyse exploratoire</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Arial"/>
                <a:ea typeface="Arial"/>
                <a:cs typeface="Arial"/>
                <a:sym typeface="Arial"/>
              </a:rPr>
              <a:t>	- </a:t>
            </a:r>
            <a:r>
              <a:rPr b="1" i="0" lang="fr-FR" sz="1800" u="none" cap="none" strike="noStrike">
                <a:solidFill>
                  <a:srgbClr val="000000"/>
                </a:solidFill>
              </a:rPr>
              <a:t>L’interprétation </a:t>
            </a:r>
            <a:r>
              <a:rPr b="0" i="0" lang="fr-FR" sz="1800" u="none" cap="none" strike="noStrike">
                <a:solidFill>
                  <a:srgbClr val="000000"/>
                </a:solidFill>
                <a:latin typeface="Arial"/>
                <a:ea typeface="Arial"/>
                <a:cs typeface="Arial"/>
                <a:sym typeface="Arial"/>
              </a:rPr>
              <a:t>des résultats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Arial"/>
                <a:ea typeface="Arial"/>
                <a:cs typeface="Arial"/>
                <a:sym typeface="Arial"/>
              </a:rPr>
              <a:t>	</a:t>
            </a:r>
            <a:r>
              <a:rPr b="0" i="0" lang="fr-FR" sz="1800" u="none" cap="none" strike="noStrike">
                <a:solidFill>
                  <a:schemeClr val="dk1"/>
                </a:solidFill>
                <a:latin typeface="Arial"/>
                <a:ea typeface="Arial"/>
                <a:cs typeface="Arial"/>
                <a:sym typeface="Arial"/>
              </a:rPr>
              <a:t>- L’utilisation dans des </a:t>
            </a:r>
            <a:r>
              <a:rPr b="1" i="0" lang="fr-FR" sz="1800" u="none" cap="none" strike="noStrike">
                <a:solidFill>
                  <a:schemeClr val="dk1"/>
                </a:solidFill>
              </a:rPr>
              <a:t>modèles ML</a:t>
            </a:r>
            <a:endParaRPr b="1" i="0" sz="1800" u="none" cap="none" strike="noStrike">
              <a:solidFill>
                <a:schemeClr val="dk1"/>
              </a:solidFill>
              <a:latin typeface="Arial"/>
              <a:ea typeface="Arial"/>
              <a:cs typeface="Arial"/>
              <a:sym typeface="Arial"/>
            </a:endParaRPr>
          </a:p>
        </p:txBody>
      </p:sp>
      <p:sp>
        <p:nvSpPr>
          <p:cNvPr id="147" name="Google Shape;147;p6"/>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8"/>
              <a:buNone/>
            </a:pPr>
            <a:r>
              <a:rPr lang="fr-FR"/>
              <a:t>Exploration du dataset CO2</a:t>
            </a:r>
            <a:r>
              <a:rPr lang="fr-FR">
                <a:solidFill>
                  <a:srgbClr val="36733F"/>
                </a:solidFill>
              </a:rPr>
              <a:t> </a:t>
            </a:r>
            <a:endParaRPr>
              <a:solidFill>
                <a:srgbClr val="36733F"/>
              </a:solidFill>
            </a:endParaRPr>
          </a:p>
          <a:p>
            <a:pPr indent="0" lvl="0" marL="0" rtl="0" algn="l">
              <a:lnSpc>
                <a:spcPct val="90000"/>
              </a:lnSpc>
              <a:spcBef>
                <a:spcPts val="0"/>
              </a:spcBef>
              <a:spcAft>
                <a:spcPts val="0"/>
              </a:spcAft>
              <a:buClr>
                <a:schemeClr val="dk1"/>
              </a:buClr>
              <a:buSzPct val="38888"/>
              <a:buFont typeface="Arial"/>
              <a:buNone/>
            </a:pPr>
            <a:r>
              <a:rPr lang="fr-FR">
                <a:solidFill>
                  <a:schemeClr val="accent3"/>
                </a:solidFill>
              </a:rPr>
              <a:t>Création de nouvelles variables</a:t>
            </a:r>
            <a:endParaRPr/>
          </a:p>
        </p:txBody>
      </p:sp>
      <p:sp>
        <p:nvSpPr>
          <p:cNvPr id="148" name="Google Shape;148;p6"/>
          <p:cNvSpPr txBox="1"/>
          <p:nvPr/>
        </p:nvSpPr>
        <p:spPr>
          <a:xfrm>
            <a:off x="595325" y="1587116"/>
            <a:ext cx="9105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rgbClr val="000000"/>
                </a:solidFill>
                <a:latin typeface="Arial"/>
                <a:ea typeface="Arial"/>
                <a:cs typeface="Arial"/>
                <a:sym typeface="Arial"/>
              </a:rPr>
              <a:t>Objectif : enrichir le dataset avec des variables catégorielles/Explicatives.</a:t>
            </a:r>
            <a:endParaRPr b="0" i="0" sz="1400" u="none" cap="none" strike="noStrike">
              <a:solidFill>
                <a:srgbClr val="000000"/>
              </a:solidFill>
              <a:latin typeface="Arial"/>
              <a:ea typeface="Arial"/>
              <a:cs typeface="Arial"/>
              <a:sym typeface="Arial"/>
            </a:endParaRPr>
          </a:p>
        </p:txBody>
      </p:sp>
      <p:sp>
        <p:nvSpPr>
          <p:cNvPr id="149" name="Google Shape;149;p6"/>
          <p:cNvSpPr txBox="1"/>
          <p:nvPr/>
        </p:nvSpPr>
        <p:spPr>
          <a:xfrm>
            <a:off x="457030" y="2400886"/>
            <a:ext cx="5500800" cy="28629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Création d’une </a:t>
            </a:r>
            <a:r>
              <a:rPr b="1" i="0" lang="fr-FR" sz="1800" u="none" cap="none" strike="noStrike">
                <a:solidFill>
                  <a:srgbClr val="000000"/>
                </a:solidFill>
                <a:latin typeface="Arial"/>
                <a:ea typeface="Arial"/>
                <a:cs typeface="Arial"/>
                <a:sym typeface="Arial"/>
              </a:rPr>
              <a:t>étiquette CO₂ (A → G)</a:t>
            </a:r>
            <a:r>
              <a:rPr b="0" i="0" lang="fr-FR" sz="1800" u="none" cap="none" strike="noStrike">
                <a:solidFill>
                  <a:srgbClr val="000000"/>
                </a:solidFill>
                <a:latin typeface="Arial"/>
                <a:ea typeface="Arial"/>
                <a:cs typeface="Arial"/>
                <a:sym typeface="Arial"/>
              </a:rPr>
              <a:t> à partir des émissions </a:t>
            </a:r>
            <a:r>
              <a:rPr b="1" i="0" lang="fr-FR" sz="1800" u="none" cap="none" strike="noStrike">
                <a:solidFill>
                  <a:srgbClr val="000000"/>
                </a:solidFill>
              </a:rPr>
              <a:t>CO</a:t>
            </a:r>
            <a:r>
              <a:rPr b="1" i="0" lang="fr-FR" sz="1800" u="none" cap="none" strike="noStrike">
                <a:solidFill>
                  <a:srgbClr val="000000"/>
                </a:solidFill>
                <a:latin typeface="Arial"/>
                <a:ea typeface="Arial"/>
                <a:cs typeface="Arial"/>
                <a:sym typeface="Arial"/>
              </a:rPr>
              <a:t>₂</a:t>
            </a:r>
            <a:r>
              <a:rPr b="1" i="0" lang="fr-FR" sz="1800" u="none" cap="none" strike="noStrike">
                <a:solidFill>
                  <a:srgbClr val="000000"/>
                </a:solidFill>
              </a:rPr>
              <a:t> WLTP</a:t>
            </a:r>
            <a:r>
              <a:rPr b="0" i="0" lang="fr-FR" sz="1800" u="none" cap="none" strike="noStrike">
                <a:solidFill>
                  <a:srgbClr val="000000"/>
                </a:solidFill>
                <a:latin typeface="Arial"/>
                <a:ea typeface="Arial"/>
                <a:cs typeface="Arial"/>
                <a:sym typeface="Arial"/>
              </a:rPr>
              <a:t> lié au référentiel Français.</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Ajout d’une </a:t>
            </a:r>
            <a:r>
              <a:rPr b="1" i="0" lang="fr-FR" sz="1800" u="none" cap="none" strike="noStrike">
                <a:solidFill>
                  <a:srgbClr val="000000"/>
                </a:solidFill>
              </a:rPr>
              <a:t>variable « Coût » </a:t>
            </a:r>
            <a:r>
              <a:rPr b="0" i="0" lang="fr-FR" sz="1800" u="none" cap="none" strike="noStrike">
                <a:solidFill>
                  <a:srgbClr val="000000"/>
                </a:solidFill>
                <a:latin typeface="Arial"/>
                <a:ea typeface="Arial"/>
                <a:cs typeface="Arial"/>
                <a:sym typeface="Arial"/>
              </a:rPr>
              <a:t>en Euros(€), calculée en fonction du </a:t>
            </a:r>
            <a:r>
              <a:rPr b="1" i="0" lang="fr-FR" sz="1800" u="none" cap="none" strike="noStrike">
                <a:solidFill>
                  <a:srgbClr val="000000"/>
                </a:solidFill>
              </a:rPr>
              <a:t>Malus </a:t>
            </a:r>
            <a:r>
              <a:rPr b="0" i="0" lang="fr-FR" sz="1800" u="none" cap="none" strike="noStrike">
                <a:solidFill>
                  <a:srgbClr val="000000"/>
                </a:solidFill>
                <a:latin typeface="Arial"/>
                <a:ea typeface="Arial"/>
                <a:cs typeface="Arial"/>
                <a:sym typeface="Arial"/>
              </a:rPr>
              <a:t>appliqué en France sur les </a:t>
            </a:r>
            <a:r>
              <a:rPr b="1" i="0" lang="fr-FR" sz="1800" u="none" cap="none" strike="noStrike">
                <a:solidFill>
                  <a:srgbClr val="000000"/>
                </a:solidFill>
              </a:rPr>
              <a:t>véhicules neufs</a:t>
            </a:r>
            <a:r>
              <a:rPr b="0" i="0" lang="fr-FR"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Catégorisation du </a:t>
            </a:r>
            <a:r>
              <a:rPr b="1" i="0" lang="fr-FR" sz="1800" u="none" cap="none" strike="noStrike">
                <a:solidFill>
                  <a:srgbClr val="000000"/>
                </a:solidFill>
                <a:latin typeface="Arial"/>
                <a:ea typeface="Arial"/>
                <a:cs typeface="Arial"/>
                <a:sym typeface="Arial"/>
              </a:rPr>
              <a:t>poids du véhicule</a:t>
            </a:r>
            <a:r>
              <a:rPr b="0" i="0" lang="fr-FR" sz="1800" u="none" cap="none" strike="noStrike">
                <a:solidFill>
                  <a:srgbClr val="000000"/>
                </a:solidFill>
                <a:latin typeface="Arial"/>
                <a:ea typeface="Arial"/>
                <a:cs typeface="Arial"/>
                <a:sym typeface="Arial"/>
              </a:rPr>
              <a:t> en quartiles (léger → très lourd).</a:t>
            </a:r>
            <a:endParaRPr b="0" i="0" sz="1800" u="none" cap="none" strike="noStrike">
              <a:solidFill>
                <a:srgbClr val="FF0000"/>
              </a:solidFill>
              <a:latin typeface="Arial"/>
              <a:ea typeface="Arial"/>
              <a:cs typeface="Arial"/>
              <a:sym typeface="Arial"/>
            </a:endParaRPr>
          </a:p>
        </p:txBody>
      </p:sp>
      <p:pic>
        <p:nvPicPr>
          <p:cNvPr descr="Mille avec un remplissage uni" id="150" name="Google Shape;150;p6"/>
          <p:cNvPicPr preferRelativeResize="0"/>
          <p:nvPr/>
        </p:nvPicPr>
        <p:blipFill rotWithShape="1">
          <a:blip r:embed="rId3">
            <a:alphaModFix/>
          </a:blip>
          <a:srcRect b="0" l="0" r="0" t="0"/>
          <a:stretch/>
        </p:blipFill>
        <p:spPr>
          <a:xfrm>
            <a:off x="133625" y="1518593"/>
            <a:ext cx="461700" cy="461700"/>
          </a:xfrm>
          <a:prstGeom prst="rect">
            <a:avLst/>
          </a:prstGeom>
          <a:noFill/>
          <a:ln>
            <a:noFill/>
          </a:ln>
        </p:spPr>
      </p:pic>
      <p:sp>
        <p:nvSpPr>
          <p:cNvPr id="151" name="Google Shape;151;p6"/>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p7"/>
          <p:cNvSpPr txBox="1"/>
          <p:nvPr/>
        </p:nvSpPr>
        <p:spPr>
          <a:xfrm>
            <a:off x="6394739" y="2436903"/>
            <a:ext cx="5070000" cy="36942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Le choix s’est donc porté sur un </a:t>
            </a:r>
            <a:r>
              <a:rPr b="1" i="0" lang="fr-FR" sz="1800" u="none" cap="none" strike="noStrike">
                <a:solidFill>
                  <a:srgbClr val="000000"/>
                </a:solidFill>
                <a:latin typeface="Arial"/>
                <a:ea typeface="Arial"/>
                <a:cs typeface="Arial"/>
                <a:sym typeface="Arial"/>
              </a:rPr>
              <a:t>échantillonnage aléatoire de 900 000 véhicules</a:t>
            </a:r>
            <a:r>
              <a:rPr b="0" i="0" lang="fr-FR" sz="1800" u="none" cap="none" strike="noStrike">
                <a:solidFill>
                  <a:srgbClr val="000000"/>
                </a:solidFill>
                <a:latin typeface="Arial"/>
                <a:ea typeface="Arial"/>
                <a:cs typeface="Arial"/>
                <a:sym typeface="Arial"/>
              </a:rPr>
              <a:t>, garantissant un </a:t>
            </a:r>
            <a:r>
              <a:rPr b="1" i="0" lang="fr-FR" sz="1800" u="none" cap="none" strike="noStrike">
                <a:solidFill>
                  <a:srgbClr val="000000"/>
                </a:solidFill>
                <a:latin typeface="Arial"/>
                <a:ea typeface="Arial"/>
                <a:cs typeface="Arial"/>
                <a:sym typeface="Arial"/>
              </a:rPr>
              <a:t>bon compromis entre performance, représentativité et faisabilité technique</a:t>
            </a:r>
            <a:r>
              <a:rPr b="0" i="0" lang="fr-FR"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SzPts val="1800"/>
              <a:buFont typeface="Arial"/>
              <a:buChar char="●"/>
            </a:pPr>
            <a:r>
              <a:rPr b="0" i="0" lang="fr-FR" sz="1800" u="none" cap="none" strike="noStrike">
                <a:solidFill>
                  <a:srgbClr val="000000"/>
                </a:solidFill>
                <a:latin typeface="Arial"/>
                <a:ea typeface="Arial"/>
                <a:cs typeface="Arial"/>
                <a:sym typeface="Arial"/>
              </a:rPr>
              <a:t>Cet échantillon est utilisé après un </a:t>
            </a:r>
            <a:r>
              <a:rPr b="1" i="0" lang="fr-FR" sz="1800" u="none" cap="none" strike="noStrike">
                <a:solidFill>
                  <a:srgbClr val="000000"/>
                </a:solidFill>
                <a:latin typeface="Arial"/>
                <a:ea typeface="Arial"/>
                <a:cs typeface="Arial"/>
                <a:sym typeface="Arial"/>
              </a:rPr>
              <a:t>nettoyage rigoureux</a:t>
            </a:r>
            <a:r>
              <a:rPr b="0" i="0" lang="fr-FR" sz="1800" u="none" cap="none" strike="noStrike">
                <a:solidFill>
                  <a:srgbClr val="000000"/>
                </a:solidFill>
                <a:latin typeface="Arial"/>
                <a:ea typeface="Arial"/>
                <a:cs typeface="Arial"/>
                <a:sym typeface="Arial"/>
              </a:rPr>
              <a:t> (valeurs manquantes, </a:t>
            </a:r>
            <a:r>
              <a:rPr b="0" i="0" lang="fr-FR" sz="1800" u="none" cap="none" strike="noStrike">
                <a:solidFill>
                  <a:schemeClr val="dk1"/>
                </a:solidFill>
                <a:latin typeface="Arial"/>
                <a:ea typeface="Arial"/>
                <a:cs typeface="Arial"/>
                <a:sym typeface="Arial"/>
              </a:rPr>
              <a:t>outliers</a:t>
            </a:r>
            <a:r>
              <a:rPr b="0" i="0" lang="fr-FR" sz="1800" u="none" cap="none" strike="noStrike">
                <a:solidFill>
                  <a:srgbClr val="000000"/>
                </a:solidFill>
                <a:latin typeface="Arial"/>
                <a:ea typeface="Arial"/>
                <a:cs typeface="Arial"/>
                <a:sym typeface="Arial"/>
              </a:rPr>
              <a:t>, incohérences métier), assurant des données </a:t>
            </a:r>
            <a:r>
              <a:rPr b="1" i="0" lang="fr-FR" sz="1800" u="none" cap="none" strike="noStrike">
                <a:solidFill>
                  <a:srgbClr val="000000"/>
                </a:solidFill>
                <a:latin typeface="Arial"/>
                <a:ea typeface="Arial"/>
                <a:cs typeface="Arial"/>
                <a:sym typeface="Arial"/>
              </a:rPr>
              <a:t>fiables et compatible avec l’environnement Looker Studio</a:t>
            </a:r>
            <a:r>
              <a:rPr b="0" i="0" lang="fr-FR" sz="1800" u="none" cap="none" strike="noStrike">
                <a:solidFill>
                  <a:srgbClr val="000000"/>
                </a:solidFill>
                <a:latin typeface="Arial"/>
                <a:ea typeface="Arial"/>
                <a:cs typeface="Arial"/>
                <a:sym typeface="Arial"/>
              </a:rPr>
              <a:t>, sans biaiser les données.</a:t>
            </a:r>
            <a:endParaRPr b="0" i="0" sz="1400" u="none" cap="none" strike="noStrike">
              <a:solidFill>
                <a:srgbClr val="000000"/>
              </a:solidFill>
              <a:latin typeface="Arial"/>
              <a:ea typeface="Arial"/>
              <a:cs typeface="Arial"/>
              <a:sym typeface="Arial"/>
            </a:endParaRPr>
          </a:p>
          <a:p>
            <a:pPr indent="-171450" lvl="8" marL="28575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57" name="Google Shape;157;p7"/>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8"/>
              <a:buNone/>
            </a:pPr>
            <a:r>
              <a:rPr lang="fr-FR"/>
              <a:t>Exploration du dataset CO2</a:t>
            </a:r>
            <a:r>
              <a:rPr lang="fr-FR">
                <a:solidFill>
                  <a:srgbClr val="36733F"/>
                </a:solidFill>
              </a:rPr>
              <a:t> </a:t>
            </a:r>
            <a:endParaRPr>
              <a:solidFill>
                <a:srgbClr val="36733F"/>
              </a:solidFill>
            </a:endParaRPr>
          </a:p>
          <a:p>
            <a:pPr indent="0" lvl="0" marL="0" rtl="0" algn="l">
              <a:lnSpc>
                <a:spcPct val="90000"/>
              </a:lnSpc>
              <a:spcBef>
                <a:spcPts val="0"/>
              </a:spcBef>
              <a:spcAft>
                <a:spcPts val="0"/>
              </a:spcAft>
              <a:buClr>
                <a:schemeClr val="dk1"/>
              </a:buClr>
              <a:buSzPct val="40935"/>
              <a:buFont typeface="Arial"/>
              <a:buNone/>
            </a:pPr>
            <a:r>
              <a:rPr lang="fr-FR" sz="3800">
                <a:solidFill>
                  <a:schemeClr val="accent3"/>
                </a:solidFill>
              </a:rPr>
              <a:t>Qualité des données &amp; contraintes techniques</a:t>
            </a:r>
            <a:endParaRPr/>
          </a:p>
        </p:txBody>
      </p:sp>
      <p:sp>
        <p:nvSpPr>
          <p:cNvPr id="158" name="Google Shape;158;p7"/>
          <p:cNvSpPr txBox="1"/>
          <p:nvPr/>
        </p:nvSpPr>
        <p:spPr>
          <a:xfrm>
            <a:off x="595324" y="1583191"/>
            <a:ext cx="10702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rgbClr val="000000"/>
                </a:solidFill>
                <a:latin typeface="Arial"/>
                <a:ea typeface="Arial"/>
                <a:cs typeface="Arial"/>
                <a:sym typeface="Arial"/>
              </a:rPr>
              <a:t>Objectif : concilier contraintes techniques, qualité des données et robustesse des analyses.</a:t>
            </a:r>
            <a:endParaRPr b="0" i="0" sz="1400" u="none" cap="none" strike="noStrike">
              <a:solidFill>
                <a:srgbClr val="000000"/>
              </a:solidFill>
              <a:latin typeface="Arial"/>
              <a:ea typeface="Arial"/>
              <a:cs typeface="Arial"/>
              <a:sym typeface="Arial"/>
            </a:endParaRPr>
          </a:p>
        </p:txBody>
      </p:sp>
      <p:sp>
        <p:nvSpPr>
          <p:cNvPr id="159" name="Google Shape;159;p7"/>
          <p:cNvSpPr txBox="1"/>
          <p:nvPr/>
        </p:nvSpPr>
        <p:spPr>
          <a:xfrm>
            <a:off x="595324" y="2436903"/>
            <a:ext cx="5500800" cy="39711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Le jeu de données </a:t>
            </a:r>
            <a:r>
              <a:rPr lang="fr-FR" sz="1800"/>
              <a:t>nettoyé </a:t>
            </a:r>
            <a:r>
              <a:rPr b="0" i="0" lang="fr-FR" sz="1800" u="none" cap="none" strike="noStrike">
                <a:solidFill>
                  <a:srgbClr val="000000"/>
                </a:solidFill>
                <a:latin typeface="Arial"/>
                <a:ea typeface="Arial"/>
                <a:cs typeface="Arial"/>
                <a:sym typeface="Arial"/>
              </a:rPr>
              <a:t>comprend </a:t>
            </a:r>
            <a:r>
              <a:rPr b="1" i="0" lang="fr-FR" sz="1800" u="none" cap="none" strike="noStrike">
                <a:solidFill>
                  <a:srgbClr val="000000"/>
                </a:solidFill>
                <a:latin typeface="Arial"/>
                <a:ea typeface="Arial"/>
                <a:cs typeface="Arial"/>
                <a:sym typeface="Arial"/>
              </a:rPr>
              <a:t>10,8 millions de lignes et </a:t>
            </a:r>
            <a:r>
              <a:rPr b="1" lang="fr-FR" sz="1800"/>
              <a:t>15 </a:t>
            </a:r>
            <a:r>
              <a:rPr b="1" i="0" lang="fr-FR" sz="1800" u="none" cap="none" strike="noStrike">
                <a:solidFill>
                  <a:srgbClr val="000000"/>
                </a:solidFill>
                <a:latin typeface="Arial"/>
                <a:ea typeface="Arial"/>
                <a:cs typeface="Arial"/>
                <a:sym typeface="Arial"/>
              </a:rPr>
              <a:t>variables</a:t>
            </a:r>
            <a:r>
              <a:rPr b="0" i="0" lang="fr-FR" sz="1800" u="none" cap="none" strike="noStrike">
                <a:solidFill>
                  <a:srgbClr val="000000"/>
                </a:solidFill>
                <a:latin typeface="Arial"/>
                <a:ea typeface="Arial"/>
                <a:cs typeface="Arial"/>
                <a:sym typeface="Arial"/>
              </a:rPr>
              <a:t>, pour un volume total d’environ </a:t>
            </a:r>
            <a:r>
              <a:rPr b="1" i="0" lang="fr-FR" sz="1800" u="none" cap="none" strike="noStrike">
                <a:solidFill>
                  <a:srgbClr val="000000"/>
                </a:solidFill>
                <a:latin typeface="Arial"/>
                <a:ea typeface="Arial"/>
                <a:cs typeface="Arial"/>
                <a:sym typeface="Arial"/>
              </a:rPr>
              <a:t>1,20 Go</a:t>
            </a:r>
            <a:r>
              <a:rPr b="0" i="0" lang="fr-FR"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Ce volume est </a:t>
            </a:r>
            <a:r>
              <a:rPr b="1" i="0" lang="fr-FR" sz="1800" u="none" cap="none" strike="noStrike">
                <a:solidFill>
                  <a:srgbClr val="000000"/>
                </a:solidFill>
                <a:latin typeface="Arial"/>
                <a:ea typeface="Arial"/>
                <a:cs typeface="Arial"/>
                <a:sym typeface="Arial"/>
              </a:rPr>
              <a:t>incompatible avec les outils de visualisation classiques</a:t>
            </a:r>
            <a:r>
              <a:rPr b="0" i="0" lang="fr-FR" sz="1800" u="none" cap="none" strike="noStrike">
                <a:solidFill>
                  <a:srgbClr val="000000"/>
                </a:solidFill>
                <a:latin typeface="Arial"/>
                <a:ea typeface="Arial"/>
                <a:cs typeface="Arial"/>
                <a:sym typeface="Arial"/>
              </a:rPr>
              <a:t>, notamment </a:t>
            </a:r>
            <a:r>
              <a:rPr b="1" i="0" lang="fr-FR" sz="1800" u="none" cap="none" strike="noStrike">
                <a:solidFill>
                  <a:srgbClr val="000000"/>
                </a:solidFill>
                <a:latin typeface="Arial"/>
                <a:ea typeface="Arial"/>
                <a:cs typeface="Arial"/>
                <a:sym typeface="Arial"/>
              </a:rPr>
              <a:t>Looker Studio</a:t>
            </a:r>
            <a:r>
              <a:rPr b="0" i="0" lang="fr-FR" sz="1800" u="none" cap="none" strike="noStrike">
                <a:solidFill>
                  <a:srgbClr val="000000"/>
                </a:solidFill>
                <a:latin typeface="Arial"/>
                <a:ea typeface="Arial"/>
                <a:cs typeface="Arial"/>
                <a:sym typeface="Arial"/>
              </a:rPr>
              <a:t>, qui impose une </a:t>
            </a:r>
            <a:r>
              <a:rPr b="1" i="0" lang="fr-FR" sz="1800" u="none" cap="none" strike="noStrike">
                <a:solidFill>
                  <a:srgbClr val="000000"/>
                </a:solidFill>
                <a:latin typeface="Arial"/>
                <a:ea typeface="Arial"/>
                <a:cs typeface="Arial"/>
                <a:sym typeface="Arial"/>
              </a:rPr>
              <a:t>limite de 100 Mo par fichier CSV</a:t>
            </a:r>
            <a:r>
              <a:rPr b="0" i="0" lang="fr-FR"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Une solution via </a:t>
            </a:r>
            <a:r>
              <a:rPr b="1" i="0" lang="fr-FR" sz="1800" u="none" cap="none" strike="noStrike">
                <a:solidFill>
                  <a:srgbClr val="000000"/>
                </a:solidFill>
                <a:latin typeface="Arial"/>
                <a:ea typeface="Arial"/>
                <a:cs typeface="Arial"/>
                <a:sym typeface="Arial"/>
              </a:rPr>
              <a:t>BigQuery</a:t>
            </a:r>
            <a:r>
              <a:rPr b="0" i="0" lang="fr-FR" sz="1800" u="none" cap="none" strike="noStrike">
                <a:solidFill>
                  <a:srgbClr val="000000"/>
                </a:solidFill>
                <a:latin typeface="Arial"/>
                <a:ea typeface="Arial"/>
                <a:cs typeface="Arial"/>
                <a:sym typeface="Arial"/>
              </a:rPr>
              <a:t> a été envisagée afin de conserver l’intégralité des données, mais </a:t>
            </a:r>
            <a:r>
              <a:rPr b="1" i="0" lang="fr-FR" sz="1800" u="none" cap="none" strike="noStrike">
                <a:solidFill>
                  <a:srgbClr val="000000"/>
                </a:solidFill>
                <a:latin typeface="Arial"/>
                <a:ea typeface="Arial"/>
                <a:cs typeface="Arial"/>
                <a:sym typeface="Arial"/>
              </a:rPr>
              <a:t>écartée pour des raisons de coûts</a:t>
            </a:r>
            <a:r>
              <a:rPr b="0" i="0" lang="fr-FR" sz="1800" u="none" cap="none" strike="noStrike">
                <a:solidFill>
                  <a:srgbClr val="000000"/>
                </a:solidFill>
                <a:latin typeface="Arial"/>
                <a:ea typeface="Arial"/>
                <a:cs typeface="Arial"/>
                <a:sym typeface="Arial"/>
              </a:rPr>
              <a:t> incompatibles avec le cadre du projet.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Mille avec un remplissage uni" id="160" name="Google Shape;160;p7"/>
          <p:cNvPicPr preferRelativeResize="0"/>
          <p:nvPr/>
        </p:nvPicPr>
        <p:blipFill rotWithShape="1">
          <a:blip r:embed="rId3">
            <a:alphaModFix/>
          </a:blip>
          <a:srcRect b="0" l="0" r="0" t="0"/>
          <a:stretch/>
        </p:blipFill>
        <p:spPr>
          <a:xfrm>
            <a:off x="133625" y="1518593"/>
            <a:ext cx="461700" cy="461700"/>
          </a:xfrm>
          <a:prstGeom prst="rect">
            <a:avLst/>
          </a:prstGeom>
          <a:noFill/>
          <a:ln>
            <a:noFill/>
          </a:ln>
        </p:spPr>
      </p:pic>
      <p:sp>
        <p:nvSpPr>
          <p:cNvPr id="161" name="Google Shape;161;p7"/>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8"/>
          <p:cNvSpPr txBox="1"/>
          <p:nvPr/>
        </p:nvSpPr>
        <p:spPr>
          <a:xfrm>
            <a:off x="544835" y="2121660"/>
            <a:ext cx="44955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Carte Choroplèthe des moyennes des émissions des Co2, mettant en avant des disparités entre les pays.</a:t>
            </a:r>
            <a:endParaRPr b="0" i="0" sz="1400" u="none" cap="none" strike="noStrike">
              <a:solidFill>
                <a:srgbClr val="000000"/>
              </a:solidFill>
              <a:latin typeface="Arial"/>
              <a:ea typeface="Arial"/>
              <a:cs typeface="Arial"/>
              <a:sym typeface="Arial"/>
            </a:endParaRPr>
          </a:p>
          <a:p>
            <a:pPr indent="-171450" lvl="8" marL="28575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67" name="Google Shape;167;p8"/>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8"/>
              <a:buNone/>
            </a:pPr>
            <a:r>
              <a:rPr lang="fr-FR"/>
              <a:t>Exploration du dataset CO2</a:t>
            </a:r>
            <a:r>
              <a:rPr lang="fr-FR">
                <a:solidFill>
                  <a:srgbClr val="36733F"/>
                </a:solidFill>
              </a:rPr>
              <a:t> </a:t>
            </a:r>
            <a:br>
              <a:rPr lang="fr-FR">
                <a:solidFill>
                  <a:srgbClr val="36733F"/>
                </a:solidFill>
              </a:rPr>
            </a:br>
            <a:r>
              <a:rPr lang="fr-FR">
                <a:solidFill>
                  <a:schemeClr val="accent3"/>
                </a:solidFill>
              </a:rPr>
              <a:t>Visualisations exploratoires en Python</a:t>
            </a:r>
            <a:endParaRPr>
              <a:solidFill>
                <a:schemeClr val="accent3"/>
              </a:solidFill>
            </a:endParaRPr>
          </a:p>
        </p:txBody>
      </p:sp>
      <p:pic>
        <p:nvPicPr>
          <p:cNvPr descr="Une image contenant texte, carte, atlas&#10;&#10;Le contenu généré par l’IA peut être incorrect." id="168" name="Google Shape;168;p8"/>
          <p:cNvPicPr preferRelativeResize="0"/>
          <p:nvPr/>
        </p:nvPicPr>
        <p:blipFill rotWithShape="1">
          <a:blip r:embed="rId3">
            <a:alphaModFix/>
          </a:blip>
          <a:srcRect b="0" l="0" r="0" t="0"/>
          <a:stretch/>
        </p:blipFill>
        <p:spPr>
          <a:xfrm>
            <a:off x="5144377" y="1864126"/>
            <a:ext cx="6253999" cy="4349324"/>
          </a:xfrm>
          <a:prstGeom prst="rect">
            <a:avLst/>
          </a:prstGeom>
          <a:noFill/>
          <a:ln>
            <a:noFill/>
          </a:ln>
        </p:spPr>
      </p:pic>
      <p:sp>
        <p:nvSpPr>
          <p:cNvPr id="169" name="Google Shape;169;p8"/>
          <p:cNvSpPr txBox="1"/>
          <p:nvPr/>
        </p:nvSpPr>
        <p:spPr>
          <a:xfrm>
            <a:off x="595324" y="1583191"/>
            <a:ext cx="10702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rgbClr val="000000"/>
                </a:solidFill>
                <a:latin typeface="Arial"/>
                <a:ea typeface="Arial"/>
                <a:cs typeface="Arial"/>
                <a:sym typeface="Arial"/>
              </a:rPr>
              <a:t>Objectif : identifier les tendances Européennes en termes d’émissions de Co2</a:t>
            </a:r>
            <a:endParaRPr b="0" i="0" sz="1400" u="none" cap="none" strike="noStrike">
              <a:solidFill>
                <a:srgbClr val="000000"/>
              </a:solidFill>
              <a:latin typeface="Arial"/>
              <a:ea typeface="Arial"/>
              <a:cs typeface="Arial"/>
              <a:sym typeface="Arial"/>
            </a:endParaRPr>
          </a:p>
        </p:txBody>
      </p:sp>
      <p:pic>
        <p:nvPicPr>
          <p:cNvPr descr="Mille avec un remplissage uni" id="170" name="Google Shape;170;p8"/>
          <p:cNvPicPr preferRelativeResize="0"/>
          <p:nvPr/>
        </p:nvPicPr>
        <p:blipFill rotWithShape="1">
          <a:blip r:embed="rId4">
            <a:alphaModFix/>
          </a:blip>
          <a:srcRect b="0" l="0" r="0" t="0"/>
          <a:stretch/>
        </p:blipFill>
        <p:spPr>
          <a:xfrm>
            <a:off x="133625" y="1518593"/>
            <a:ext cx="461700" cy="461700"/>
          </a:xfrm>
          <a:prstGeom prst="rect">
            <a:avLst/>
          </a:prstGeom>
          <a:noFill/>
          <a:ln>
            <a:noFill/>
          </a:ln>
        </p:spPr>
      </p:pic>
      <p:pic>
        <p:nvPicPr>
          <p:cNvPr descr="Une image contenant texte, capture d’écran, Police, nombre&#10;&#10;Le contenu généré par l’IA peut être incorrect." id="171" name="Google Shape;171;p8"/>
          <p:cNvPicPr preferRelativeResize="0"/>
          <p:nvPr/>
        </p:nvPicPr>
        <p:blipFill rotWithShape="1">
          <a:blip r:embed="rId5">
            <a:alphaModFix/>
          </a:blip>
          <a:srcRect b="0" l="0" r="0" t="0"/>
          <a:stretch/>
        </p:blipFill>
        <p:spPr>
          <a:xfrm>
            <a:off x="806395" y="3463626"/>
            <a:ext cx="4123817" cy="2486600"/>
          </a:xfrm>
          <a:prstGeom prst="rect">
            <a:avLst/>
          </a:prstGeom>
          <a:noFill/>
          <a:ln>
            <a:noFill/>
          </a:ln>
        </p:spPr>
      </p:pic>
      <p:sp>
        <p:nvSpPr>
          <p:cNvPr id="172" name="Google Shape;172;p8"/>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76" name="Shape 176"/>
        <p:cNvGrpSpPr/>
        <p:nvPr/>
      </p:nvGrpSpPr>
      <p:grpSpPr>
        <a:xfrm>
          <a:off x="0" y="0"/>
          <a:ext cx="0" cy="0"/>
          <a:chOff x="0" y="0"/>
          <a:chExt cx="0" cy="0"/>
        </a:xfrm>
      </p:grpSpPr>
      <p:sp>
        <p:nvSpPr>
          <p:cNvPr id="177" name="Google Shape;177;g3b6510c78dd_1_14"/>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9"/>
              <a:buNone/>
            </a:pPr>
            <a:r>
              <a:rPr lang="fr-FR"/>
              <a:t>Exploration du dataset CO2</a:t>
            </a:r>
            <a:r>
              <a:rPr lang="fr-FR">
                <a:solidFill>
                  <a:srgbClr val="36733F"/>
                </a:solidFill>
              </a:rPr>
              <a:t> </a:t>
            </a:r>
            <a:br>
              <a:rPr lang="fr-FR">
                <a:solidFill>
                  <a:srgbClr val="36733F"/>
                </a:solidFill>
              </a:rPr>
            </a:br>
            <a:r>
              <a:rPr lang="fr-FR">
                <a:solidFill>
                  <a:schemeClr val="accent3"/>
                </a:solidFill>
              </a:rPr>
              <a:t>Visualisations exploratoires en Python</a:t>
            </a:r>
            <a:endParaRPr>
              <a:solidFill>
                <a:schemeClr val="accent3"/>
              </a:solidFill>
            </a:endParaRPr>
          </a:p>
        </p:txBody>
      </p:sp>
      <p:sp>
        <p:nvSpPr>
          <p:cNvPr id="178" name="Google Shape;178;g3b6510c78dd_1_14"/>
          <p:cNvSpPr txBox="1"/>
          <p:nvPr/>
        </p:nvSpPr>
        <p:spPr>
          <a:xfrm>
            <a:off x="444020" y="1997549"/>
            <a:ext cx="5500800" cy="3140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Les émissions de CO₂ sont fortement corrélées à la consommation de carburant, confirmant que celle-ci est le principal déterminant des émissions. Le poids et la puissance présentent également une corrélation positive avec les émissions, mais plus modérée. </a:t>
            </a:r>
            <a:endParaRPr b="0" i="0" sz="18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À l’inverse, l’autonomie et la consommation électrique sont négativement corrélées au CO₂, traduisant l’impact des motorisations électrifiées sur la réduction des émissions.</a:t>
            </a:r>
            <a:endParaRPr b="0" i="0" sz="1800" u="none" cap="none" strike="noStrike">
              <a:solidFill>
                <a:srgbClr val="000000"/>
              </a:solidFill>
              <a:latin typeface="Arial"/>
              <a:ea typeface="Arial"/>
              <a:cs typeface="Arial"/>
              <a:sym typeface="Arial"/>
            </a:endParaRPr>
          </a:p>
        </p:txBody>
      </p:sp>
      <p:pic>
        <p:nvPicPr>
          <p:cNvPr id="179" name="Google Shape;179;g3b6510c78dd_1_14"/>
          <p:cNvPicPr preferRelativeResize="0"/>
          <p:nvPr/>
        </p:nvPicPr>
        <p:blipFill rotWithShape="1">
          <a:blip r:embed="rId3">
            <a:alphaModFix/>
          </a:blip>
          <a:srcRect b="0" l="0" r="0" t="0"/>
          <a:stretch/>
        </p:blipFill>
        <p:spPr>
          <a:xfrm>
            <a:off x="6095995" y="1485763"/>
            <a:ext cx="5942380" cy="4693130"/>
          </a:xfrm>
          <a:prstGeom prst="rect">
            <a:avLst/>
          </a:prstGeom>
          <a:noFill/>
          <a:ln>
            <a:noFill/>
          </a:ln>
        </p:spPr>
      </p:pic>
      <p:sp>
        <p:nvSpPr>
          <p:cNvPr id="180" name="Google Shape;180;g3b6510c78dd_1_14"/>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9"/>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8"/>
              <a:buNone/>
            </a:pPr>
            <a:r>
              <a:rPr lang="fr-FR"/>
              <a:t>Exploration du dataset CO2</a:t>
            </a:r>
            <a:r>
              <a:rPr lang="fr-FR">
                <a:solidFill>
                  <a:srgbClr val="36733F"/>
                </a:solidFill>
              </a:rPr>
              <a:t> </a:t>
            </a:r>
            <a:br>
              <a:rPr lang="fr-FR">
                <a:solidFill>
                  <a:srgbClr val="36733F"/>
                </a:solidFill>
              </a:rPr>
            </a:br>
            <a:r>
              <a:rPr lang="fr-FR">
                <a:solidFill>
                  <a:schemeClr val="accent3"/>
                </a:solidFill>
              </a:rPr>
              <a:t>Visualisations exploratoires en Python</a:t>
            </a:r>
            <a:endParaRPr>
              <a:solidFill>
                <a:schemeClr val="accent3"/>
              </a:solidFill>
            </a:endParaRPr>
          </a:p>
        </p:txBody>
      </p:sp>
      <p:sp>
        <p:nvSpPr>
          <p:cNvPr id="186" name="Google Shape;186;p9"/>
          <p:cNvSpPr txBox="1"/>
          <p:nvPr/>
        </p:nvSpPr>
        <p:spPr>
          <a:xfrm>
            <a:off x="6624425" y="2451200"/>
            <a:ext cx="5119800" cy="9234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Réalisation de </a:t>
            </a:r>
            <a:r>
              <a:rPr b="1" i="0" lang="fr-FR" sz="1800" u="none" cap="none" strike="noStrike">
                <a:solidFill>
                  <a:srgbClr val="000000"/>
                </a:solidFill>
                <a:latin typeface="Arial"/>
                <a:ea typeface="Arial"/>
                <a:cs typeface="Arial"/>
                <a:sym typeface="Arial"/>
              </a:rPr>
              <a:t>matrices de corrélation de type </a:t>
            </a:r>
            <a:r>
              <a:rPr b="1" i="1" lang="fr-FR" sz="1800" u="none" cap="none" strike="noStrike">
                <a:solidFill>
                  <a:srgbClr val="000000"/>
                </a:solidFill>
                <a:latin typeface="Arial"/>
                <a:ea typeface="Arial"/>
                <a:cs typeface="Arial"/>
                <a:sym typeface="Arial"/>
              </a:rPr>
              <a:t>Heatmap</a:t>
            </a:r>
            <a:r>
              <a:rPr b="0" i="0" lang="fr-FR" sz="1800" u="none" cap="none" strike="noStrike">
                <a:solidFill>
                  <a:srgbClr val="000000"/>
                </a:solidFill>
                <a:latin typeface="Arial"/>
                <a:ea typeface="Arial"/>
                <a:cs typeface="Arial"/>
                <a:sym typeface="Arial"/>
              </a:rPr>
              <a:t> pour chaque type de carburant.</a:t>
            </a:r>
            <a:endParaRPr b="0" i="0" sz="1800" u="none" cap="none" strike="noStrike">
              <a:solidFill>
                <a:srgbClr val="000000"/>
              </a:solidFill>
              <a:latin typeface="Arial"/>
              <a:ea typeface="Arial"/>
              <a:cs typeface="Arial"/>
              <a:sym typeface="Arial"/>
            </a:endParaRPr>
          </a:p>
        </p:txBody>
      </p:sp>
      <p:sp>
        <p:nvSpPr>
          <p:cNvPr id="187" name="Google Shape;187;p9"/>
          <p:cNvSpPr txBox="1"/>
          <p:nvPr/>
        </p:nvSpPr>
        <p:spPr>
          <a:xfrm>
            <a:off x="263202" y="2451190"/>
            <a:ext cx="5500800" cy="9234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SzPts val="1800"/>
              <a:buFont typeface="Arial"/>
              <a:buChar char="●"/>
            </a:pPr>
            <a:r>
              <a:rPr b="0" i="0" lang="fr-FR" sz="1800" u="none" cap="none" strike="noStrike">
                <a:solidFill>
                  <a:srgbClr val="000000"/>
                </a:solidFill>
                <a:latin typeface="Arial"/>
                <a:ea typeface="Arial"/>
                <a:cs typeface="Arial"/>
                <a:sym typeface="Arial"/>
              </a:rPr>
              <a:t>Analyse de la distribution des valeurs pour chaque variable numérique </a:t>
            </a:r>
            <a:r>
              <a:rPr b="0" i="0" lang="fr-FR" sz="1800" u="none" cap="none" strike="noStrike">
                <a:solidFill>
                  <a:schemeClr val="dk1"/>
                </a:solidFill>
                <a:latin typeface="Arial"/>
                <a:ea typeface="Arial"/>
                <a:cs typeface="Arial"/>
                <a:sym typeface="Arial"/>
              </a:rPr>
              <a:t>avec des </a:t>
            </a:r>
            <a:r>
              <a:rPr b="1" i="0" lang="fr-FR" sz="1800" u="none" cap="none" strike="noStrike">
                <a:solidFill>
                  <a:schemeClr val="dk1"/>
                </a:solidFill>
                <a:latin typeface="Arial"/>
                <a:ea typeface="Arial"/>
                <a:cs typeface="Arial"/>
                <a:sym typeface="Arial"/>
              </a:rPr>
              <a:t>graphiques en boîtes à moustaches</a:t>
            </a:r>
            <a:r>
              <a:rPr b="0" i="0" lang="fr-FR"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pic>
        <p:nvPicPr>
          <p:cNvPr id="188" name="Google Shape;188;p9" title="Capture d’écran 2026-01-12 à 10.12.18.png"/>
          <p:cNvPicPr preferRelativeResize="0"/>
          <p:nvPr/>
        </p:nvPicPr>
        <p:blipFill rotWithShape="1">
          <a:blip r:embed="rId3">
            <a:alphaModFix/>
          </a:blip>
          <a:srcRect b="0" l="0" r="0" t="0"/>
          <a:stretch/>
        </p:blipFill>
        <p:spPr>
          <a:xfrm>
            <a:off x="1301139" y="3531424"/>
            <a:ext cx="3743685" cy="2597550"/>
          </a:xfrm>
          <a:prstGeom prst="rect">
            <a:avLst/>
          </a:prstGeom>
          <a:noFill/>
          <a:ln>
            <a:noFill/>
          </a:ln>
        </p:spPr>
      </p:pic>
      <p:pic>
        <p:nvPicPr>
          <p:cNvPr id="189" name="Google Shape;189;p9" title="Capture d’écran 2026-01-12 à 10.22.21.png"/>
          <p:cNvPicPr preferRelativeResize="0"/>
          <p:nvPr/>
        </p:nvPicPr>
        <p:blipFill rotWithShape="1">
          <a:blip r:embed="rId4">
            <a:alphaModFix/>
          </a:blip>
          <a:srcRect b="0" l="0" r="0" t="0"/>
          <a:stretch/>
        </p:blipFill>
        <p:spPr>
          <a:xfrm>
            <a:off x="7198250" y="3374600"/>
            <a:ext cx="3824626" cy="2845550"/>
          </a:xfrm>
          <a:prstGeom prst="rect">
            <a:avLst/>
          </a:prstGeom>
          <a:noFill/>
          <a:ln>
            <a:noFill/>
          </a:ln>
        </p:spPr>
      </p:pic>
      <p:sp>
        <p:nvSpPr>
          <p:cNvPr id="190" name="Google Shape;190;p9"/>
          <p:cNvSpPr txBox="1"/>
          <p:nvPr/>
        </p:nvSpPr>
        <p:spPr>
          <a:xfrm>
            <a:off x="595325" y="1589500"/>
            <a:ext cx="6029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Objectif : identifier et supprimer les outliers</a:t>
            </a:r>
            <a:endParaRPr b="0" i="0" sz="1400" u="none" cap="none" strike="noStrike">
              <a:solidFill>
                <a:schemeClr val="dk1"/>
              </a:solidFill>
              <a:latin typeface="Arial"/>
              <a:ea typeface="Arial"/>
              <a:cs typeface="Arial"/>
              <a:sym typeface="Arial"/>
            </a:endParaRPr>
          </a:p>
        </p:txBody>
      </p:sp>
      <p:sp>
        <p:nvSpPr>
          <p:cNvPr id="191" name="Google Shape;191;p9"/>
          <p:cNvSpPr txBox="1"/>
          <p:nvPr/>
        </p:nvSpPr>
        <p:spPr>
          <a:xfrm>
            <a:off x="6844800" y="1589500"/>
            <a:ext cx="5119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Objectif : montrer les potentielles corrélations entre nos différentes variables</a:t>
            </a:r>
            <a:endParaRPr b="0" i="0" sz="1400" u="none" cap="none" strike="noStrike">
              <a:solidFill>
                <a:schemeClr val="dk1"/>
              </a:solidFill>
              <a:latin typeface="Arial"/>
              <a:ea typeface="Arial"/>
              <a:cs typeface="Arial"/>
              <a:sym typeface="Arial"/>
            </a:endParaRPr>
          </a:p>
        </p:txBody>
      </p:sp>
      <p:pic>
        <p:nvPicPr>
          <p:cNvPr descr="Mille avec un remplissage uni" id="192" name="Google Shape;192;p9"/>
          <p:cNvPicPr preferRelativeResize="0"/>
          <p:nvPr/>
        </p:nvPicPr>
        <p:blipFill rotWithShape="1">
          <a:blip r:embed="rId5">
            <a:alphaModFix/>
          </a:blip>
          <a:srcRect b="0" l="0" r="0" t="0"/>
          <a:stretch/>
        </p:blipFill>
        <p:spPr>
          <a:xfrm>
            <a:off x="133625" y="1589493"/>
            <a:ext cx="461700" cy="461700"/>
          </a:xfrm>
          <a:prstGeom prst="rect">
            <a:avLst/>
          </a:prstGeom>
          <a:noFill/>
          <a:ln>
            <a:noFill/>
          </a:ln>
        </p:spPr>
      </p:pic>
      <p:pic>
        <p:nvPicPr>
          <p:cNvPr descr="Mille avec un remplissage uni" id="193" name="Google Shape;193;p9"/>
          <p:cNvPicPr preferRelativeResize="0"/>
          <p:nvPr/>
        </p:nvPicPr>
        <p:blipFill rotWithShape="1">
          <a:blip r:embed="rId5">
            <a:alphaModFix/>
          </a:blip>
          <a:srcRect b="0" l="0" r="0" t="0"/>
          <a:stretch/>
        </p:blipFill>
        <p:spPr>
          <a:xfrm>
            <a:off x="6328575" y="1589493"/>
            <a:ext cx="461700" cy="461700"/>
          </a:xfrm>
          <a:prstGeom prst="rect">
            <a:avLst/>
          </a:prstGeom>
          <a:noFill/>
          <a:ln>
            <a:noFill/>
          </a:ln>
        </p:spPr>
      </p:pic>
      <p:sp>
        <p:nvSpPr>
          <p:cNvPr id="194" name="Google Shape;194;p9"/>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g3b6510c78dd_1_33"/>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9"/>
              <a:buNone/>
            </a:pPr>
            <a:r>
              <a:rPr lang="fr-FR"/>
              <a:t>Exploration du dataset CO2</a:t>
            </a:r>
            <a:r>
              <a:rPr lang="fr-FR">
                <a:solidFill>
                  <a:srgbClr val="36733F"/>
                </a:solidFill>
              </a:rPr>
              <a:t> </a:t>
            </a:r>
            <a:br>
              <a:rPr lang="fr-FR">
                <a:solidFill>
                  <a:srgbClr val="36733F"/>
                </a:solidFill>
              </a:rPr>
            </a:br>
            <a:r>
              <a:rPr lang="fr-FR">
                <a:solidFill>
                  <a:schemeClr val="accent3"/>
                </a:solidFill>
              </a:rPr>
              <a:t>Visualisations exploratoires en Python</a:t>
            </a:r>
            <a:endParaRPr>
              <a:solidFill>
                <a:schemeClr val="accent3"/>
              </a:solidFill>
            </a:endParaRPr>
          </a:p>
        </p:txBody>
      </p:sp>
      <p:pic>
        <p:nvPicPr>
          <p:cNvPr id="200" name="Google Shape;200;g3b6510c78dd_1_33"/>
          <p:cNvPicPr preferRelativeResize="0"/>
          <p:nvPr/>
        </p:nvPicPr>
        <p:blipFill rotWithShape="1">
          <a:blip r:embed="rId3">
            <a:alphaModFix/>
          </a:blip>
          <a:srcRect b="0" l="0" r="0" t="0"/>
          <a:stretch/>
        </p:blipFill>
        <p:spPr>
          <a:xfrm>
            <a:off x="6553386" y="1850025"/>
            <a:ext cx="5028963" cy="4269875"/>
          </a:xfrm>
          <a:prstGeom prst="rect">
            <a:avLst/>
          </a:prstGeom>
          <a:noFill/>
          <a:ln>
            <a:noFill/>
          </a:ln>
        </p:spPr>
      </p:pic>
      <p:pic>
        <p:nvPicPr>
          <p:cNvPr id="201" name="Google Shape;201;g3b6510c78dd_1_33"/>
          <p:cNvPicPr preferRelativeResize="0"/>
          <p:nvPr/>
        </p:nvPicPr>
        <p:blipFill rotWithShape="1">
          <a:blip r:embed="rId4">
            <a:alphaModFix/>
          </a:blip>
          <a:srcRect b="0" l="0" r="0" t="0"/>
          <a:stretch/>
        </p:blipFill>
        <p:spPr>
          <a:xfrm>
            <a:off x="324425" y="1986274"/>
            <a:ext cx="5494400" cy="4269875"/>
          </a:xfrm>
          <a:prstGeom prst="rect">
            <a:avLst/>
          </a:prstGeom>
          <a:noFill/>
          <a:ln>
            <a:noFill/>
          </a:ln>
        </p:spPr>
      </p:pic>
      <p:sp>
        <p:nvSpPr>
          <p:cNvPr id="202" name="Google Shape;202;g3b6510c78dd_1_33"/>
          <p:cNvSpPr/>
          <p:nvPr/>
        </p:nvSpPr>
        <p:spPr>
          <a:xfrm>
            <a:off x="3997200" y="2419675"/>
            <a:ext cx="454500" cy="3075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3b6510c78dd_1_33"/>
          <p:cNvSpPr/>
          <p:nvPr/>
        </p:nvSpPr>
        <p:spPr>
          <a:xfrm>
            <a:off x="3253900" y="2419675"/>
            <a:ext cx="454500" cy="3075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g3b6510c78dd_1_33"/>
          <p:cNvSpPr/>
          <p:nvPr/>
        </p:nvSpPr>
        <p:spPr>
          <a:xfrm>
            <a:off x="2510600" y="2419675"/>
            <a:ext cx="454500" cy="3075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3b6510c78dd_1_33"/>
          <p:cNvSpPr/>
          <p:nvPr/>
        </p:nvSpPr>
        <p:spPr>
          <a:xfrm>
            <a:off x="7876700" y="2997200"/>
            <a:ext cx="454500" cy="3075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3b6510c78dd_1_33"/>
          <p:cNvSpPr/>
          <p:nvPr/>
        </p:nvSpPr>
        <p:spPr>
          <a:xfrm>
            <a:off x="9419400" y="2997200"/>
            <a:ext cx="454500" cy="3075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3b6510c78dd_1_33"/>
          <p:cNvSpPr/>
          <p:nvPr/>
        </p:nvSpPr>
        <p:spPr>
          <a:xfrm>
            <a:off x="10213525" y="2997200"/>
            <a:ext cx="454500" cy="3075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3b6510c78dd_1_33"/>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sp>
        <p:nvSpPr>
          <p:cNvPr id="213" name="Google Shape;213;g3b6510c78dd_1_0"/>
          <p:cNvSpPr txBox="1"/>
          <p:nvPr/>
        </p:nvSpPr>
        <p:spPr>
          <a:xfrm>
            <a:off x="5931439" y="2464773"/>
            <a:ext cx="5686500" cy="369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Construction de </a:t>
            </a:r>
            <a:r>
              <a:rPr b="1" i="0" lang="fr-FR" sz="1800" u="none" cap="none" strike="noStrike">
                <a:solidFill>
                  <a:srgbClr val="000000"/>
                </a:solidFill>
                <a:latin typeface="Arial"/>
                <a:ea typeface="Arial"/>
                <a:cs typeface="Arial"/>
                <a:sym typeface="Arial"/>
              </a:rPr>
              <a:t>diagrammes à barres</a:t>
            </a:r>
            <a:r>
              <a:rPr b="0" i="0" lang="fr-FR"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
        <p:nvSpPr>
          <p:cNvPr id="214" name="Google Shape;214;g3b6510c78dd_1_0"/>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8889"/>
              <a:buNone/>
            </a:pPr>
            <a:r>
              <a:rPr lang="fr-FR"/>
              <a:t>Exploration du dataset CO2 </a:t>
            </a:r>
            <a:br>
              <a:rPr lang="fr-FR"/>
            </a:br>
            <a:r>
              <a:rPr lang="fr-FR">
                <a:solidFill>
                  <a:schemeClr val="accent3"/>
                </a:solidFill>
              </a:rPr>
              <a:t>Visualisations exploratoires en Python</a:t>
            </a:r>
            <a:endParaRPr>
              <a:solidFill>
                <a:schemeClr val="accent3"/>
              </a:solidFill>
            </a:endParaRPr>
          </a:p>
        </p:txBody>
      </p:sp>
      <p:sp>
        <p:nvSpPr>
          <p:cNvPr id="215" name="Google Shape;215;g3b6510c78dd_1_0"/>
          <p:cNvSpPr txBox="1"/>
          <p:nvPr/>
        </p:nvSpPr>
        <p:spPr>
          <a:xfrm>
            <a:off x="350425" y="2464775"/>
            <a:ext cx="5349900" cy="6465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fr-FR" sz="1800" u="none" cap="none" strike="noStrike">
                <a:solidFill>
                  <a:srgbClr val="000000"/>
                </a:solidFill>
                <a:latin typeface="Arial"/>
                <a:ea typeface="Arial"/>
                <a:cs typeface="Arial"/>
                <a:sym typeface="Arial"/>
              </a:rPr>
              <a:t>Réalisation de </a:t>
            </a:r>
            <a:r>
              <a:rPr b="1" i="0" lang="fr-FR" sz="1800" u="none" cap="none" strike="noStrike">
                <a:solidFill>
                  <a:srgbClr val="000000"/>
                </a:solidFill>
                <a:latin typeface="Arial"/>
                <a:ea typeface="Arial"/>
                <a:cs typeface="Arial"/>
                <a:sym typeface="Arial"/>
              </a:rPr>
              <a:t>graphiques en nuages de points</a:t>
            </a:r>
            <a:r>
              <a:rPr b="0" i="0" lang="fr-FR" sz="1800" u="none" cap="none" strike="noStrike">
                <a:solidFill>
                  <a:srgbClr val="000000"/>
                </a:solidFill>
                <a:latin typeface="Arial"/>
                <a:ea typeface="Arial"/>
                <a:cs typeface="Arial"/>
                <a:sym typeface="Arial"/>
              </a:rPr>
              <a:t> avec droite de régression linéaire.</a:t>
            </a:r>
            <a:endParaRPr b="0" i="0" sz="1400" u="none" cap="none" strike="noStrike">
              <a:solidFill>
                <a:srgbClr val="000000"/>
              </a:solidFill>
              <a:latin typeface="Arial"/>
              <a:ea typeface="Arial"/>
              <a:cs typeface="Arial"/>
              <a:sym typeface="Arial"/>
            </a:endParaRPr>
          </a:p>
        </p:txBody>
      </p:sp>
      <p:pic>
        <p:nvPicPr>
          <p:cNvPr id="216" name="Google Shape;216;g3b6510c78dd_1_0" title="Capture d’écran 2026-01-12 à 09.54.22.png"/>
          <p:cNvPicPr preferRelativeResize="0"/>
          <p:nvPr/>
        </p:nvPicPr>
        <p:blipFill rotWithShape="1">
          <a:blip r:embed="rId3">
            <a:alphaModFix/>
          </a:blip>
          <a:srcRect b="0" l="0" r="0" t="0"/>
          <a:stretch/>
        </p:blipFill>
        <p:spPr>
          <a:xfrm>
            <a:off x="1020037" y="3261019"/>
            <a:ext cx="4161589" cy="2846076"/>
          </a:xfrm>
          <a:prstGeom prst="rect">
            <a:avLst/>
          </a:prstGeom>
          <a:noFill/>
          <a:ln>
            <a:noFill/>
          </a:ln>
        </p:spPr>
      </p:pic>
      <p:pic>
        <p:nvPicPr>
          <p:cNvPr id="217" name="Google Shape;217;g3b6510c78dd_1_0" title="Capture d’écran 2026-01-12 à 10.00.01.png"/>
          <p:cNvPicPr preferRelativeResize="0"/>
          <p:nvPr/>
        </p:nvPicPr>
        <p:blipFill rotWithShape="1">
          <a:blip r:embed="rId4">
            <a:alphaModFix/>
          </a:blip>
          <a:srcRect b="0" l="0" r="0" t="0"/>
          <a:stretch/>
        </p:blipFill>
        <p:spPr>
          <a:xfrm>
            <a:off x="6454586" y="3403585"/>
            <a:ext cx="5239849" cy="2560952"/>
          </a:xfrm>
          <a:prstGeom prst="rect">
            <a:avLst/>
          </a:prstGeom>
          <a:noFill/>
          <a:ln>
            <a:noFill/>
          </a:ln>
        </p:spPr>
      </p:pic>
      <p:sp>
        <p:nvSpPr>
          <p:cNvPr id="218" name="Google Shape;218;g3b6510c78dd_1_0"/>
          <p:cNvSpPr txBox="1"/>
          <p:nvPr/>
        </p:nvSpPr>
        <p:spPr>
          <a:xfrm>
            <a:off x="595325" y="1589500"/>
            <a:ext cx="6029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Objectif : montrer les interactions entre les différentes variables</a:t>
            </a:r>
            <a:endParaRPr b="1" i="0" sz="1800" u="none" cap="none" strike="noStrike">
              <a:solidFill>
                <a:schemeClr val="dk1"/>
              </a:solidFill>
              <a:latin typeface="Arial"/>
              <a:ea typeface="Arial"/>
              <a:cs typeface="Arial"/>
              <a:sym typeface="Arial"/>
            </a:endParaRPr>
          </a:p>
        </p:txBody>
      </p:sp>
      <p:pic>
        <p:nvPicPr>
          <p:cNvPr descr="Mille avec un remplissage uni" id="219" name="Google Shape;219;g3b6510c78dd_1_0"/>
          <p:cNvPicPr preferRelativeResize="0"/>
          <p:nvPr/>
        </p:nvPicPr>
        <p:blipFill rotWithShape="1">
          <a:blip r:embed="rId5">
            <a:alphaModFix/>
          </a:blip>
          <a:srcRect b="0" l="0" r="0" t="0"/>
          <a:stretch/>
        </p:blipFill>
        <p:spPr>
          <a:xfrm>
            <a:off x="133625" y="1589493"/>
            <a:ext cx="461700" cy="461700"/>
          </a:xfrm>
          <a:prstGeom prst="rect">
            <a:avLst/>
          </a:prstGeom>
          <a:noFill/>
          <a:ln>
            <a:noFill/>
          </a:ln>
        </p:spPr>
      </p:pic>
      <p:sp>
        <p:nvSpPr>
          <p:cNvPr id="220" name="Google Shape;220;g3b6510c78dd_1_0"/>
          <p:cNvSpPr txBox="1"/>
          <p:nvPr/>
        </p:nvSpPr>
        <p:spPr>
          <a:xfrm>
            <a:off x="6161961" y="1584701"/>
            <a:ext cx="6029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Arial"/>
                <a:ea typeface="Arial"/>
                <a:cs typeface="Arial"/>
                <a:sym typeface="Arial"/>
              </a:rPr>
              <a:t>Objectif : comprendre la distribution des étiquettes CO₂ et du poids selon différentes variables</a:t>
            </a:r>
            <a:endParaRPr b="1" i="0" sz="1800" u="none" cap="none" strike="noStrike">
              <a:solidFill>
                <a:schemeClr val="dk1"/>
              </a:solidFill>
              <a:latin typeface="Arial"/>
              <a:ea typeface="Arial"/>
              <a:cs typeface="Arial"/>
              <a:sym typeface="Arial"/>
            </a:endParaRPr>
          </a:p>
        </p:txBody>
      </p:sp>
      <p:pic>
        <p:nvPicPr>
          <p:cNvPr descr="Mille avec un remplissage uni" id="221" name="Google Shape;221;g3b6510c78dd_1_0"/>
          <p:cNvPicPr preferRelativeResize="0"/>
          <p:nvPr/>
        </p:nvPicPr>
        <p:blipFill rotWithShape="1">
          <a:blip r:embed="rId5">
            <a:alphaModFix/>
          </a:blip>
          <a:srcRect b="0" l="0" r="0" t="0"/>
          <a:stretch/>
        </p:blipFill>
        <p:spPr>
          <a:xfrm>
            <a:off x="5700261" y="1584694"/>
            <a:ext cx="461700" cy="461700"/>
          </a:xfrm>
          <a:prstGeom prst="rect">
            <a:avLst/>
          </a:prstGeom>
          <a:noFill/>
          <a:ln>
            <a:noFill/>
          </a:ln>
        </p:spPr>
      </p:pic>
      <p:sp>
        <p:nvSpPr>
          <p:cNvPr id="222" name="Google Shape;222;g3b6510c78dd_1_0"/>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6" name="Shape 226"/>
        <p:cNvGrpSpPr/>
        <p:nvPr/>
      </p:nvGrpSpPr>
      <p:grpSpPr>
        <a:xfrm>
          <a:off x="0" y="0"/>
          <a:ext cx="0" cy="0"/>
          <a:chOff x="0" y="0"/>
          <a:chExt cx="0" cy="0"/>
        </a:xfrm>
      </p:grpSpPr>
      <p:sp>
        <p:nvSpPr>
          <p:cNvPr id="227" name="Google Shape;227;g3b531205846_0_40"/>
          <p:cNvSpPr/>
          <p:nvPr/>
        </p:nvSpPr>
        <p:spPr>
          <a:xfrm>
            <a:off x="3925073" y="3441866"/>
            <a:ext cx="4543800" cy="930900"/>
          </a:xfrm>
          <a:prstGeom prst="rect">
            <a:avLst/>
          </a:prstGeom>
          <a:solidFill>
            <a:srgbClr val="3673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3b531205846_0_40"/>
          <p:cNvSpPr txBox="1"/>
          <p:nvPr/>
        </p:nvSpPr>
        <p:spPr>
          <a:xfrm>
            <a:off x="3824100" y="3355275"/>
            <a:ext cx="4543800" cy="930900"/>
          </a:xfrm>
          <a:prstGeom prst="rect">
            <a:avLst/>
          </a:prstGeom>
          <a:solidFill>
            <a:schemeClr val="lt1"/>
          </a:solidFill>
          <a:ln cap="flat" cmpd="sng" w="2857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900"/>
              <a:buFont typeface="Arial"/>
              <a:buNone/>
            </a:pPr>
            <a:r>
              <a:t/>
            </a:r>
            <a:endParaRPr b="1" i="0" sz="19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1" i="0" lang="fr-FR" sz="1900" u="none" cap="none" strike="noStrike">
                <a:solidFill>
                  <a:schemeClr val="dk1"/>
                </a:solidFill>
                <a:latin typeface="Arial"/>
                <a:ea typeface="Arial"/>
                <a:cs typeface="Arial"/>
                <a:sym typeface="Arial"/>
              </a:rPr>
              <a:t>Passage sur Looker Studio</a:t>
            </a:r>
            <a:endParaRPr b="1" i="0" sz="1900" u="none" cap="none" strike="noStrike">
              <a:solidFill>
                <a:schemeClr val="dk1"/>
              </a:solidFill>
              <a:latin typeface="Arial"/>
              <a:ea typeface="Arial"/>
              <a:cs typeface="Arial"/>
              <a:sym typeface="Arial"/>
            </a:endParaRPr>
          </a:p>
        </p:txBody>
      </p:sp>
      <p:sp>
        <p:nvSpPr>
          <p:cNvPr id="229" name="Google Shape;229;g3b531205846_0_40"/>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27500"/>
              <a:buFont typeface="Arial"/>
              <a:buNone/>
            </a:pPr>
            <a:r>
              <a:rPr lang="fr-FR"/>
              <a:t>Visualisation</a:t>
            </a:r>
            <a:endParaRPr/>
          </a:p>
          <a:p>
            <a:pPr indent="0" lvl="0" marL="0" rtl="0" algn="l">
              <a:lnSpc>
                <a:spcPct val="90000"/>
              </a:lnSpc>
              <a:spcBef>
                <a:spcPts val="0"/>
              </a:spcBef>
              <a:spcAft>
                <a:spcPts val="0"/>
              </a:spcAft>
              <a:buSzPct val="38888"/>
              <a:buNone/>
            </a:pPr>
            <a:r>
              <a:rPr lang="fr-FR">
                <a:solidFill>
                  <a:srgbClr val="36733F"/>
                </a:solidFill>
              </a:rPr>
              <a:t>Looker</a:t>
            </a:r>
            <a:endParaRPr/>
          </a:p>
        </p:txBody>
      </p:sp>
      <p:sp>
        <p:nvSpPr>
          <p:cNvPr id="230" name="Google Shape;230;g3b531205846_0_40"/>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rgbClr val="A5A5A5"/>
                </a:solidFill>
                <a:latin typeface="Arial"/>
                <a:ea typeface="Arial"/>
                <a:cs typeface="Arial"/>
                <a:sym typeface="Arial"/>
              </a:rPr>
              <a:t> | </a:t>
            </a:r>
            <a:r>
              <a:rPr b="0" i="0" lang="fr-FR" sz="1800" u="none" cap="none" strike="noStrike">
                <a:solidFill>
                  <a:srgbClr val="A5A5A5"/>
                </a:solidFill>
                <a:latin typeface="Arial"/>
                <a:ea typeface="Arial"/>
                <a:cs typeface="Arial"/>
                <a:sym typeface="Arial"/>
              </a:rPr>
              <a:t>Exploration </a:t>
            </a:r>
            <a:r>
              <a:rPr b="1" i="0" lang="fr-FR" sz="1800" u="none" cap="none" strike="noStrike">
                <a:solidFill>
                  <a:schemeClr val="dk1"/>
                </a:solidFill>
                <a:latin typeface="Arial"/>
                <a:ea typeface="Arial"/>
                <a:cs typeface="Arial"/>
                <a:sym typeface="Arial"/>
              </a:rPr>
              <a:t>|</a:t>
            </a:r>
            <a:r>
              <a:rPr b="1" i="0" lang="fr-FR" sz="1800" u="none" cap="none" strike="noStrike">
                <a:solidFill>
                  <a:srgbClr val="A5A5A5"/>
                </a:solidFill>
                <a:latin typeface="Arial"/>
                <a:ea typeface="Arial"/>
                <a:cs typeface="Arial"/>
                <a:sym typeface="Arial"/>
              </a:rPr>
              <a:t>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Looker</a:t>
            </a:r>
            <a:r>
              <a:rPr b="0" i="0" lang="fr-FR" sz="1800" u="none" cap="none" strike="noStrike">
                <a:solidFill>
                  <a:schemeClr val="dk1"/>
                </a:solidFill>
                <a:latin typeface="Arial"/>
                <a:ea typeface="Arial"/>
                <a:cs typeface="Arial"/>
                <a:sym typeface="Arial"/>
              </a:rPr>
              <a:t> </a:t>
            </a:r>
            <a:r>
              <a:rPr b="1" i="0" lang="fr-FR" sz="1800" u="none" cap="none" strike="noStrike">
                <a:solidFill>
                  <a:schemeClr val="dk1"/>
                </a:solidFill>
                <a:latin typeface="Arial"/>
                <a:ea typeface="Arial"/>
                <a:cs typeface="Arial"/>
                <a:sym typeface="Arial"/>
              </a:rPr>
              <a:t>| </a:t>
            </a:r>
            <a:r>
              <a:rPr i="0" lang="fr-FR" sz="1800" u="none" cap="none" strike="noStrike">
                <a:solidFill>
                  <a:srgbClr val="A5A5A5"/>
                </a:solidFill>
              </a:rPr>
              <a:t>Conclusion</a:t>
            </a:r>
            <a:r>
              <a:rPr b="1" i="0" lang="fr-FR" sz="1800" u="none" cap="none" strike="noStrike">
                <a:solidFill>
                  <a:srgbClr val="A5A5A5"/>
                </a:solidFill>
                <a:latin typeface="Arial"/>
                <a:ea typeface="Arial"/>
                <a:cs typeface="Arial"/>
                <a:sym typeface="Arial"/>
              </a:rPr>
              <a:t> </a:t>
            </a:r>
            <a:r>
              <a:rPr b="1" lang="fr-FR" sz="1800">
                <a:solidFill>
                  <a:srgbClr val="A5A5A5"/>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b6510c78dd_2_1"/>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400"/>
              <a:buNone/>
            </a:pPr>
            <a:r>
              <a:rPr lang="fr-FR"/>
              <a:t>Conclusion</a:t>
            </a:r>
            <a:endParaRPr/>
          </a:p>
        </p:txBody>
      </p:sp>
      <p:sp>
        <p:nvSpPr>
          <p:cNvPr id="237" name="Google Shape;237;g3b6510c78dd_2_1"/>
          <p:cNvSpPr txBox="1"/>
          <p:nvPr>
            <p:ph idx="1" type="body"/>
          </p:nvPr>
        </p:nvSpPr>
        <p:spPr>
          <a:xfrm>
            <a:off x="838200" y="1825625"/>
            <a:ext cx="10495200" cy="10233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SzPts val="1800"/>
              <a:buNone/>
            </a:pPr>
            <a:r>
              <a:rPr b="1" lang="fr-FR" sz="1800"/>
              <a:t>Problématique</a:t>
            </a:r>
            <a:endParaRPr b="1" sz="1800"/>
          </a:p>
          <a:p>
            <a:pPr indent="0" lvl="0" marL="0" rtl="0" algn="l">
              <a:lnSpc>
                <a:spcPct val="90000"/>
              </a:lnSpc>
              <a:spcBef>
                <a:spcPts val="1000"/>
              </a:spcBef>
              <a:spcAft>
                <a:spcPts val="0"/>
              </a:spcAft>
              <a:buSzPts val="1800"/>
              <a:buNone/>
            </a:pPr>
            <a:r>
              <a:rPr i="1" lang="fr-FR" sz="1800"/>
              <a:t>Une approche centrée uniquement sur les émissions de CO2 est-elle suffisante pour piloter efficacement la transition énergétique du secteur automobile ?</a:t>
            </a:r>
            <a:endParaRPr i="1" sz="1800"/>
          </a:p>
        </p:txBody>
      </p:sp>
      <p:sp>
        <p:nvSpPr>
          <p:cNvPr id="238" name="Google Shape;238;g3b6510c78dd_2_1"/>
          <p:cNvSpPr txBox="1"/>
          <p:nvPr>
            <p:ph idx="1" type="body"/>
          </p:nvPr>
        </p:nvSpPr>
        <p:spPr>
          <a:xfrm>
            <a:off x="-2414606" y="3872423"/>
            <a:ext cx="2329800" cy="1142400"/>
          </a:xfrm>
          <a:prstGeom prst="rect">
            <a:avLst/>
          </a:prstGeom>
          <a:noFill/>
          <a:ln>
            <a:noFill/>
          </a:ln>
        </p:spPr>
        <p:txBody>
          <a:bodyPr anchorCtr="0" anchor="t" bIns="45700" lIns="91425" spcFirstLastPara="1" rIns="91425" wrap="square" tIns="45700">
            <a:normAutofit fontScale="55000" lnSpcReduction="20000"/>
          </a:bodyPr>
          <a:lstStyle/>
          <a:p>
            <a:pPr indent="-355600" lvl="0" marL="457200" rtl="0" algn="l">
              <a:lnSpc>
                <a:spcPct val="90000"/>
              </a:lnSpc>
              <a:spcBef>
                <a:spcPts val="1000"/>
              </a:spcBef>
              <a:spcAft>
                <a:spcPts val="0"/>
              </a:spcAft>
              <a:buSzPct val="181818"/>
              <a:buChar char="•"/>
            </a:pPr>
            <a:r>
              <a:rPr lang="fr-FR" sz="2000"/>
              <a:t>Législation 2026 poids véhicules électriques à venir</a:t>
            </a:r>
            <a:endParaRPr sz="2000"/>
          </a:p>
          <a:p>
            <a:pPr indent="-355600" lvl="0" marL="457200" rtl="0" algn="l">
              <a:lnSpc>
                <a:spcPct val="90000"/>
              </a:lnSpc>
              <a:spcBef>
                <a:spcPts val="0"/>
              </a:spcBef>
              <a:spcAft>
                <a:spcPts val="0"/>
              </a:spcAft>
              <a:buSzPct val="181818"/>
              <a:buChar char="•"/>
            </a:pPr>
            <a:r>
              <a:rPr lang="fr-FR" sz="2000"/>
              <a:t>Effet SUV</a:t>
            </a:r>
            <a:endParaRPr sz="2000"/>
          </a:p>
          <a:p>
            <a:pPr indent="-355600" lvl="0" marL="457200" rtl="0" algn="l">
              <a:lnSpc>
                <a:spcPct val="90000"/>
              </a:lnSpc>
              <a:spcBef>
                <a:spcPts val="0"/>
              </a:spcBef>
              <a:spcAft>
                <a:spcPts val="0"/>
              </a:spcAft>
              <a:buSzPct val="181818"/>
              <a:buChar char="•"/>
            </a:pPr>
            <a:r>
              <a:rPr lang="fr-FR" sz="2000"/>
              <a:t>Différence entre autonomie et efficience électrique</a:t>
            </a:r>
            <a:endParaRPr sz="2000">
              <a:solidFill>
                <a:srgbClr val="FF0000"/>
              </a:solidFill>
            </a:endParaRPr>
          </a:p>
        </p:txBody>
      </p:sp>
      <p:sp>
        <p:nvSpPr>
          <p:cNvPr id="239" name="Google Shape;239;g3b6510c78dd_2_1"/>
          <p:cNvSpPr/>
          <p:nvPr/>
        </p:nvSpPr>
        <p:spPr>
          <a:xfrm>
            <a:off x="838200" y="2942544"/>
            <a:ext cx="372900" cy="424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b6510c78dd_2_1"/>
          <p:cNvSpPr txBox="1"/>
          <p:nvPr/>
        </p:nvSpPr>
        <p:spPr>
          <a:xfrm>
            <a:off x="1524002" y="2848925"/>
            <a:ext cx="9579900" cy="35403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émissions de </a:t>
            </a:r>
            <a:r>
              <a:rPr b="1" i="0" lang="fr-FR" sz="1400" u="none" cap="none" strike="noStrike">
                <a:solidFill>
                  <a:srgbClr val="000000"/>
                </a:solidFill>
                <a:latin typeface="Arial"/>
                <a:ea typeface="Arial"/>
                <a:cs typeface="Arial"/>
                <a:sym typeface="Arial"/>
              </a:rPr>
              <a:t>CO₂ sont un indicateur clé</a:t>
            </a:r>
            <a:r>
              <a:rPr b="0" i="0" lang="fr-FR" sz="1400" u="none" cap="none" strike="noStrike">
                <a:solidFill>
                  <a:srgbClr val="000000"/>
                </a:solidFill>
                <a:latin typeface="Arial"/>
                <a:ea typeface="Arial"/>
                <a:cs typeface="Arial"/>
                <a:sym typeface="Arial"/>
              </a:rPr>
              <a:t> pour mesurer l’impact environnemental des voitures.</a:t>
            </a:r>
            <a:r>
              <a:rPr lang="fr-FR"/>
              <a:t> </a:t>
            </a:r>
            <a:r>
              <a:rPr b="1" i="0" lang="fr-FR" sz="1400" u="none" cap="none" strike="noStrike">
                <a:solidFill>
                  <a:srgbClr val="000000"/>
                </a:solidFill>
                <a:latin typeface="Arial"/>
                <a:ea typeface="Arial"/>
                <a:cs typeface="Arial"/>
                <a:sym typeface="Arial"/>
              </a:rPr>
              <a:t>Le CO₂ seul ne suffit pas</a:t>
            </a:r>
            <a:r>
              <a:rPr b="0" i="0" lang="fr-FR" sz="1400" u="none" cap="none" strike="noStrike">
                <a:solidFill>
                  <a:srgbClr val="000000"/>
                </a:solidFill>
                <a:latin typeface="Arial"/>
                <a:ea typeface="Arial"/>
                <a:cs typeface="Arial"/>
                <a:sym typeface="Arial"/>
              </a:rPr>
              <a:t> : il ne prend pas en compte la fabrication des véhicules, les batteries, les autres pollu</a:t>
            </a:r>
            <a:r>
              <a:rPr lang="fr-FR"/>
              <a:t>ants</a:t>
            </a:r>
            <a:r>
              <a:rPr b="0" i="0" lang="fr-F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a:p>
          <a:p>
            <a:pPr indent="-317500" lvl="0" marL="457200" marR="0" rtl="0" algn="l">
              <a:lnSpc>
                <a:spcPct val="100000"/>
              </a:lnSpc>
              <a:spcBef>
                <a:spcPts val="0"/>
              </a:spcBef>
              <a:spcAft>
                <a:spcPts val="0"/>
              </a:spcAft>
              <a:buSzPts val="1400"/>
              <a:buChar char="●"/>
            </a:pPr>
            <a:r>
              <a:rPr lang="fr-FR"/>
              <a:t>Nos analyses ont montré un impact </a:t>
            </a:r>
            <a:r>
              <a:rPr b="1" lang="fr-FR"/>
              <a:t>poids</a:t>
            </a:r>
            <a:r>
              <a:rPr lang="fr-FR"/>
              <a:t> important, notamment sur les véhicules électriques (batteries et </a:t>
            </a:r>
            <a:r>
              <a:rPr b="1" lang="fr-FR"/>
              <a:t>effet SUV) </a:t>
            </a:r>
            <a:r>
              <a:rPr lang="fr-FR"/>
              <a:t>qui réduit les gains électriques que l’on peut attendre de l’électrification. </a:t>
            </a:r>
            <a:br>
              <a:rPr lang="fr-FR"/>
            </a:br>
            <a:r>
              <a:rPr b="1" lang="fr-FR">
                <a:solidFill>
                  <a:schemeClr val="dk1"/>
                </a:solidFill>
              </a:rPr>
              <a:t>TOP 5 ventes 2024 Europe : 4 SUV ou crossovers (source : Inside EV).</a:t>
            </a:r>
            <a:endParaRPr b="1"/>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politiques futures visent une </a:t>
            </a:r>
            <a:r>
              <a:rPr b="1" i="0" lang="fr-FR" sz="1400" u="none" cap="none" strike="noStrike">
                <a:solidFill>
                  <a:srgbClr val="000000"/>
                </a:solidFill>
                <a:latin typeface="Arial"/>
                <a:ea typeface="Arial"/>
                <a:cs typeface="Arial"/>
                <a:sym typeface="Arial"/>
              </a:rPr>
              <a:t>transformation globale</a:t>
            </a:r>
            <a:r>
              <a:rPr b="0" i="0" lang="fr-FR" sz="1400" u="none" cap="none" strike="noStrike">
                <a:solidFill>
                  <a:srgbClr val="000000"/>
                </a:solidFill>
                <a:latin typeface="Arial"/>
                <a:ea typeface="Arial"/>
                <a:cs typeface="Arial"/>
                <a:sym typeface="Arial"/>
              </a:rPr>
              <a:t> du secteur automobile, en combinant règles, aides et accompagnement, mai</a:t>
            </a:r>
            <a:r>
              <a:rPr lang="fr-FR"/>
              <a:t>s aussi </a:t>
            </a:r>
            <a:r>
              <a:rPr b="1" lang="fr-FR"/>
              <a:t>pénalités</a:t>
            </a:r>
            <a:r>
              <a:rPr b="0" i="0" lang="fr-FR" sz="1400" u="none" cap="none" strike="noStrike">
                <a:solidFill>
                  <a:srgbClr val="000000"/>
                </a:solidFill>
                <a:latin typeface="Arial"/>
                <a:ea typeface="Arial"/>
                <a:cs typeface="Arial"/>
                <a:sym typeface="Arial"/>
              </a:rPr>
              <a:t>.</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SzPts val="1400"/>
              <a:buChar char="●"/>
            </a:pPr>
            <a:r>
              <a:rPr b="1" i="0" lang="fr-FR" sz="1400" u="none" cap="none" strike="noStrike">
                <a:solidFill>
                  <a:srgbClr val="000000"/>
                </a:solidFill>
              </a:rPr>
              <a:t>Malus poids </a:t>
            </a:r>
            <a:r>
              <a:rPr b="0" i="0" lang="fr-FR" sz="1400" u="none" cap="none" strike="noStrike">
                <a:solidFill>
                  <a:srgbClr val="000000"/>
                </a:solidFill>
                <a:latin typeface="Arial"/>
                <a:ea typeface="Arial"/>
                <a:cs typeface="Arial"/>
                <a:sym typeface="Arial"/>
              </a:rPr>
              <a:t>en </a:t>
            </a:r>
            <a:r>
              <a:rPr b="1" i="0" lang="fr-FR" sz="1400" u="none" cap="none" strike="noStrike">
                <a:solidFill>
                  <a:srgbClr val="000000"/>
                </a:solidFill>
              </a:rPr>
              <a:t>France </a:t>
            </a:r>
            <a:r>
              <a:rPr b="0" i="0" lang="fr-FR" sz="1400" u="none" cap="none" strike="noStrike">
                <a:solidFill>
                  <a:srgbClr val="000000"/>
                </a:solidFill>
                <a:latin typeface="Arial"/>
                <a:ea typeface="Arial"/>
                <a:cs typeface="Arial"/>
                <a:sym typeface="Arial"/>
              </a:rPr>
              <a:t>des véhicules </a:t>
            </a:r>
            <a:r>
              <a:rPr b="1" lang="fr-FR"/>
              <a:t>électrique</a:t>
            </a:r>
            <a:r>
              <a:rPr b="1" lang="fr-FR"/>
              <a:t> </a:t>
            </a:r>
            <a:r>
              <a:rPr lang="fr-FR"/>
              <a:t>en </a:t>
            </a:r>
            <a:r>
              <a:rPr lang="fr-FR"/>
              <a:t>vigueur</a:t>
            </a:r>
            <a:r>
              <a:rPr lang="fr-FR"/>
              <a:t> au </a:t>
            </a:r>
            <a:r>
              <a:rPr b="1" lang="fr-FR"/>
              <a:t>01 Juillet 2026. (abattement de 600kg)</a:t>
            </a:r>
            <a:endParaRPr b="1" i="0" sz="1400" u="none" cap="none" strike="noStrike">
              <a:solidFill>
                <a:srgbClr val="000000"/>
              </a:solidFil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SzPts val="1400"/>
              <a:buChar char="●"/>
            </a:pPr>
            <a:r>
              <a:rPr b="1" lang="fr-FR"/>
              <a:t>Objectif</a:t>
            </a:r>
            <a:r>
              <a:rPr b="1" lang="fr-FR"/>
              <a:t> de la Commission Européenne : Réduire les émissions de CO2 de 90% à l’horizon 2035. </a:t>
            </a:r>
            <a:r>
              <a:rPr lang="fr-FR"/>
              <a:t>En encourageant les constructeurs à ne produire que des </a:t>
            </a:r>
            <a:r>
              <a:rPr b="1" lang="fr-FR">
                <a:solidFill>
                  <a:schemeClr val="dk1"/>
                </a:solidFill>
              </a:rPr>
              <a:t>véhicules électriques ou à très faibles émissions</a:t>
            </a:r>
            <a:r>
              <a:rPr lang="fr-FR">
                <a:solidFill>
                  <a:schemeClr val="dk1"/>
                </a:solidFill>
              </a:rPr>
              <a:t>.</a:t>
            </a:r>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         Objectif final : </a:t>
            </a:r>
            <a:r>
              <a:rPr b="1" i="0" lang="fr-FR" sz="1400" u="none" cap="none" strike="noStrike">
                <a:solidFill>
                  <a:srgbClr val="000000"/>
                </a:solidFill>
                <a:latin typeface="Arial"/>
                <a:ea typeface="Arial"/>
                <a:cs typeface="Arial"/>
                <a:sym typeface="Arial"/>
              </a:rPr>
              <a:t>réduire durablement les émissions de CO₂ à long terme</a:t>
            </a:r>
            <a:r>
              <a:rPr b="0" i="0" lang="fr-FR"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g3b6510c78dd_2_1"/>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rgbClr val="A5A5A5"/>
                </a:solidFill>
                <a:latin typeface="Arial"/>
                <a:ea typeface="Arial"/>
                <a:cs typeface="Arial"/>
                <a:sym typeface="Arial"/>
              </a:rPr>
              <a:t> | </a:t>
            </a:r>
            <a:r>
              <a:rPr b="0" i="0" lang="fr-FR" sz="1800" u="none" cap="none" strike="noStrike">
                <a:solidFill>
                  <a:srgbClr val="A5A5A5"/>
                </a:solidFill>
                <a:latin typeface="Arial"/>
                <a:ea typeface="Arial"/>
                <a:cs typeface="Arial"/>
                <a:sym typeface="Arial"/>
              </a:rPr>
              <a:t>Exploratio</a:t>
            </a:r>
            <a:r>
              <a:rPr i="0" lang="fr-FR" sz="1800" u="none" cap="none" strike="noStrike">
                <a:solidFill>
                  <a:srgbClr val="A5A5A5"/>
                </a:solidFill>
              </a:rPr>
              <a:t>n </a:t>
            </a:r>
            <a:r>
              <a:rPr b="1" i="0" lang="fr-FR" sz="1800" u="none" cap="none" strike="noStrike">
                <a:solidFill>
                  <a:srgbClr val="A5A5A5"/>
                </a:solidFill>
              </a:rPr>
              <a:t>|</a:t>
            </a:r>
            <a:r>
              <a:rPr i="0" lang="fr-FR" sz="1800" u="none" cap="none" strike="noStrike">
                <a:solidFill>
                  <a:srgbClr val="A5A5A5"/>
                </a:solidFill>
              </a:rPr>
              <a:t> Looker </a:t>
            </a:r>
            <a:r>
              <a:rPr b="1" i="0" lang="fr-FR" sz="1800" u="none" cap="none" strike="noStrike">
                <a:solidFill>
                  <a:srgbClr val="262626"/>
                </a:solidFill>
              </a:rPr>
              <a:t>|</a:t>
            </a:r>
            <a:r>
              <a:rPr b="1" i="0" lang="fr-FR" sz="1800" u="none" cap="none" strike="noStrike">
                <a:solidFill>
                  <a:schemeClr val="dk1"/>
                </a:solidFill>
                <a:latin typeface="Arial"/>
                <a:ea typeface="Arial"/>
                <a:cs typeface="Arial"/>
                <a:sym typeface="Arial"/>
              </a:rPr>
              <a:t> </a:t>
            </a:r>
            <a:r>
              <a:rPr b="1" lang="fr-FR" sz="1800">
                <a:solidFill>
                  <a:srgbClr val="36733F"/>
                </a:solidFill>
              </a:rPr>
              <a:t>&gt; </a:t>
            </a:r>
            <a:r>
              <a:rPr b="1" i="0" lang="fr-FR" sz="1800" u="none" cap="none" strike="noStrike">
                <a:solidFill>
                  <a:schemeClr val="dk1"/>
                </a:solidFill>
                <a:latin typeface="Arial"/>
                <a:ea typeface="Arial"/>
                <a:cs typeface="Arial"/>
                <a:sym typeface="Arial"/>
              </a:rPr>
              <a:t>Conclusion </a:t>
            </a:r>
            <a:r>
              <a:rPr b="1" lang="fr-FR" sz="1800">
                <a:solidFill>
                  <a:schemeClr val="dk1"/>
                </a:solidFill>
              </a:rPr>
              <a:t>| </a:t>
            </a:r>
            <a:r>
              <a:rPr b="0" i="0" lang="fr-FR" sz="1800" u="none" cap="none" strike="noStrike">
                <a:solidFill>
                  <a:srgbClr val="A5A5A5"/>
                </a:solidFill>
                <a:latin typeface="Arial"/>
                <a:ea typeface="Arial"/>
                <a:cs typeface="Arial"/>
                <a:sym typeface="Aria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b6510c78dd_2_10"/>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400"/>
              <a:buNone/>
            </a:pPr>
            <a:r>
              <a:rPr lang="fr-FR"/>
              <a:t>BONUS : Machine Learning</a:t>
            </a:r>
            <a:endParaRPr/>
          </a:p>
        </p:txBody>
      </p:sp>
      <p:sp>
        <p:nvSpPr>
          <p:cNvPr id="248" name="Google Shape;248;g3b6510c78dd_2_10"/>
          <p:cNvSpPr/>
          <p:nvPr/>
        </p:nvSpPr>
        <p:spPr>
          <a:xfrm>
            <a:off x="3906976" y="3427792"/>
            <a:ext cx="4971000" cy="930900"/>
          </a:xfrm>
          <a:prstGeom prst="rect">
            <a:avLst/>
          </a:prstGeom>
          <a:solidFill>
            <a:srgbClr val="3673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3b6510c78dd_2_10"/>
          <p:cNvSpPr txBox="1"/>
          <p:nvPr/>
        </p:nvSpPr>
        <p:spPr>
          <a:xfrm>
            <a:off x="3824100" y="3355275"/>
            <a:ext cx="4971000" cy="930900"/>
          </a:xfrm>
          <a:prstGeom prst="rect">
            <a:avLst/>
          </a:prstGeom>
          <a:solidFill>
            <a:schemeClr val="lt1"/>
          </a:solidFill>
          <a:ln cap="flat" cmpd="sng" w="2857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900"/>
              <a:buFont typeface="Arial"/>
              <a:buNone/>
            </a:pPr>
            <a:r>
              <a:t/>
            </a:r>
            <a:endParaRPr b="1" i="0" sz="19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1" i="0" lang="fr-FR" sz="1900" u="none" cap="none" strike="noStrike">
                <a:solidFill>
                  <a:schemeClr val="dk1"/>
                </a:solidFill>
                <a:latin typeface="Arial"/>
                <a:ea typeface="Arial"/>
                <a:cs typeface="Arial"/>
                <a:sym typeface="Arial"/>
              </a:rPr>
              <a:t>Modèle prédictif des émissions de CO2</a:t>
            </a:r>
            <a:endParaRPr b="1" i="0" sz="1900" u="none" cap="none" strike="noStrike">
              <a:solidFill>
                <a:schemeClr val="dk1"/>
              </a:solidFill>
              <a:latin typeface="Arial"/>
              <a:ea typeface="Arial"/>
              <a:cs typeface="Arial"/>
              <a:sym typeface="Arial"/>
            </a:endParaRPr>
          </a:p>
        </p:txBody>
      </p:sp>
      <p:sp>
        <p:nvSpPr>
          <p:cNvPr id="250" name="Google Shape;250;g3b6510c78dd_2_10"/>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rgbClr val="A5A5A5"/>
                </a:solidFill>
                <a:latin typeface="Arial"/>
                <a:ea typeface="Arial"/>
                <a:cs typeface="Arial"/>
                <a:sym typeface="Arial"/>
              </a:rPr>
              <a:t> </a:t>
            </a:r>
            <a:r>
              <a:rPr b="1" i="0" lang="fr-FR" sz="1800" u="none" cap="none" strike="noStrike">
                <a:solidFill>
                  <a:srgbClr val="A5A5A5"/>
                </a:solidFil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a:t>
            </a:r>
            <a:r>
              <a:rPr i="0" lang="fr-FR" sz="1800" u="none" cap="none" strike="noStrike">
                <a:solidFill>
                  <a:srgbClr val="A5A5A5"/>
                </a:solidFill>
              </a:rPr>
              <a:t> </a:t>
            </a:r>
            <a:r>
              <a:rPr b="1" i="0" lang="fr-FR" sz="1800" u="none" cap="none" strike="noStrike">
                <a:solidFill>
                  <a:srgbClr val="A5A5A5"/>
                </a:solidFill>
              </a:rPr>
              <a:t>|</a:t>
            </a:r>
            <a:r>
              <a:rPr i="0" lang="fr-FR" sz="1800" u="none" cap="none" strike="noStrike">
                <a:solidFill>
                  <a:srgbClr val="A5A5A5"/>
                </a:solidFill>
              </a:rPr>
              <a:t> 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262626"/>
                </a:solidFill>
              </a:rPr>
              <a:t>|</a:t>
            </a:r>
            <a:r>
              <a:rPr b="1" i="0" lang="fr-FR" sz="1800" u="none" cap="none" strike="noStrike">
                <a:solidFill>
                  <a:srgbClr val="A5A5A5"/>
                </a:solidFill>
                <a:latin typeface="Arial"/>
                <a:ea typeface="Arial"/>
                <a:cs typeface="Arial"/>
                <a:sym typeface="Arial"/>
              </a:rPr>
              <a:t> </a:t>
            </a:r>
            <a:r>
              <a:rPr b="1" lang="fr-FR" sz="1800">
                <a:solidFill>
                  <a:srgbClr val="36733F"/>
                </a:solidFill>
              </a:rPr>
              <a:t>&gt; </a:t>
            </a:r>
            <a:r>
              <a:rPr b="1" i="0" lang="fr-FR" sz="1800" u="none" cap="none" strike="noStrike">
                <a:solidFill>
                  <a:schemeClr val="dk1"/>
                </a:solidFil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8888"/>
              <a:buFont typeface="Arial"/>
              <a:buNone/>
            </a:pPr>
            <a:r>
              <a:rPr lang="fr-FR"/>
              <a:t>Modélisation Machine Learning – </a:t>
            </a:r>
            <a:br>
              <a:rPr lang="fr-FR"/>
            </a:br>
            <a:r>
              <a:rPr lang="fr-FR">
                <a:solidFill>
                  <a:schemeClr val="accent3"/>
                </a:solidFill>
              </a:rPr>
              <a:t>Méthodologie &amp; choix</a:t>
            </a:r>
            <a:endParaRPr>
              <a:solidFill>
                <a:schemeClr val="accent3"/>
              </a:solidFill>
            </a:endParaRPr>
          </a:p>
        </p:txBody>
      </p:sp>
      <p:sp>
        <p:nvSpPr>
          <p:cNvPr id="256" name="Google Shape;256;p4"/>
          <p:cNvSpPr txBox="1"/>
          <p:nvPr/>
        </p:nvSpPr>
        <p:spPr>
          <a:xfrm>
            <a:off x="590548" y="1513192"/>
            <a:ext cx="5500675"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Problématique : </a:t>
            </a:r>
            <a:r>
              <a:rPr b="0" i="0" lang="fr-FR" sz="1400" u="none" cap="none" strike="noStrike">
                <a:solidFill>
                  <a:srgbClr val="000000"/>
                </a:solidFill>
                <a:latin typeface="Arial"/>
                <a:ea typeface="Arial"/>
                <a:cs typeface="Arial"/>
                <a:sym typeface="Arial"/>
              </a:rPr>
              <a:t>Prédire les </a:t>
            </a:r>
            <a:r>
              <a:rPr b="1" i="0" lang="fr-FR" sz="1400" u="none" cap="none" strike="noStrike">
                <a:solidFill>
                  <a:srgbClr val="000000"/>
                </a:solidFill>
                <a:latin typeface="Arial"/>
                <a:ea typeface="Arial"/>
                <a:cs typeface="Arial"/>
                <a:sym typeface="Arial"/>
              </a:rPr>
              <a:t>émissions de CO₂ (WLTP)</a:t>
            </a:r>
            <a:r>
              <a:rPr b="0" i="0" lang="fr-FR"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à partir des caractéristiques techniques des véhicules</a:t>
            </a:r>
            <a:endParaRPr/>
          </a:p>
        </p:txBody>
      </p:sp>
      <p:sp>
        <p:nvSpPr>
          <p:cNvPr id="257" name="Google Shape;257;p4"/>
          <p:cNvSpPr txBox="1"/>
          <p:nvPr/>
        </p:nvSpPr>
        <p:spPr>
          <a:xfrm>
            <a:off x="590548" y="2216632"/>
            <a:ext cx="368357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Régression supervisée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(Véhicules </a:t>
            </a:r>
            <a:r>
              <a:rPr b="1" i="0" lang="fr-FR" sz="1400" u="none" cap="none" strike="noStrike">
                <a:solidFill>
                  <a:srgbClr val="000000"/>
                </a:solidFill>
                <a:latin typeface="Arial"/>
                <a:ea typeface="Arial"/>
                <a:cs typeface="Arial"/>
                <a:sym typeface="Arial"/>
              </a:rPr>
              <a:t>électriques exclus</a:t>
            </a:r>
            <a:r>
              <a:rPr b="0" i="0" lang="fr-FR" sz="1400" u="none" cap="none" strike="noStrike">
                <a:solidFill>
                  <a:srgbClr val="000000"/>
                </a:solidFill>
                <a:latin typeface="Arial"/>
                <a:ea typeface="Arial"/>
                <a:cs typeface="Arial"/>
                <a:sym typeface="Arial"/>
              </a:rPr>
              <a:t> pour éviter un biais lié aux émissions nulles.)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Brainstorming de groupe contour" id="258" name="Google Shape;258;p4"/>
          <p:cNvPicPr preferRelativeResize="0"/>
          <p:nvPr/>
        </p:nvPicPr>
        <p:blipFill rotWithShape="1">
          <a:blip r:embed="rId3">
            <a:alphaModFix/>
          </a:blip>
          <a:srcRect b="0" l="0" r="0" t="0"/>
          <a:stretch/>
        </p:blipFill>
        <p:spPr>
          <a:xfrm>
            <a:off x="1" y="1513192"/>
            <a:ext cx="635446" cy="635446"/>
          </a:xfrm>
          <a:prstGeom prst="rect">
            <a:avLst/>
          </a:prstGeom>
          <a:noFill/>
          <a:ln>
            <a:noFill/>
          </a:ln>
        </p:spPr>
      </p:pic>
      <p:sp>
        <p:nvSpPr>
          <p:cNvPr id="259" name="Google Shape;259;p4"/>
          <p:cNvSpPr txBox="1"/>
          <p:nvPr/>
        </p:nvSpPr>
        <p:spPr>
          <a:xfrm>
            <a:off x="5723827" y="1513192"/>
            <a:ext cx="6519900" cy="504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Variables explicatives principales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poids (WLTP)</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puissance (kW)</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consommation de carburant</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sng" cap="none" strike="noStrike">
                <a:solidFill>
                  <a:srgbClr val="000000"/>
                </a:solidFill>
                <a:latin typeface="Arial"/>
                <a:ea typeface="Arial"/>
                <a:cs typeface="Arial"/>
                <a:sym typeface="Arial"/>
              </a:rPr>
              <a:t>Choix du modèle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Régression linéaire</a:t>
            </a:r>
            <a:r>
              <a:rPr b="0" i="0" lang="fr-FR" sz="1400" u="none" cap="none" strike="noStrike">
                <a:solidFill>
                  <a:srgbClr val="000000"/>
                </a:solidFill>
                <a:latin typeface="Arial"/>
                <a:ea typeface="Arial"/>
                <a:cs typeface="Arial"/>
                <a:sym typeface="Arial"/>
              </a:rPr>
              <a:t> choisie comme modèle de référence : LinearRegression() :</a:t>
            </a:r>
            <a:endParaRPr/>
          </a:p>
          <a:p>
            <a:pPr indent="0" lvl="0" marL="0" marR="0" rtl="0" algn="l">
              <a:lnSpc>
                <a:spcPct val="100000"/>
              </a:lnSpc>
              <a:spcBef>
                <a:spcPts val="0"/>
              </a:spcBef>
              <a:spcAft>
                <a:spcPts val="0"/>
              </a:spcAft>
              <a:buNone/>
            </a:pPr>
            <a:r>
              <a:rPr lang="fr-FR"/>
              <a:t>Formule : </a:t>
            </a:r>
            <a:r>
              <a:rPr b="1" lang="fr-FR"/>
              <a:t>y = β0​ + β1​x1​ + β2​x2​…. + ε</a:t>
            </a:r>
            <a:endParaRPr b="1"/>
          </a:p>
          <a:p>
            <a:pPr indent="0" lvl="0" marL="0" marR="0" rtl="0" algn="l">
              <a:lnSpc>
                <a:spcPct val="100000"/>
              </a:lnSpc>
              <a:spcBef>
                <a:spcPts val="0"/>
              </a:spcBef>
              <a:spcAft>
                <a:spcPts val="0"/>
              </a:spcAft>
              <a:buNone/>
            </a:pPr>
            <a:r>
              <a:t/>
            </a:r>
            <a:endParaRPr b="1"/>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simple et interprétable</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robuste sur grands volumes</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adaptée à une analyse décisionnelle</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Permet d’analyser l’impact des variables sur le CO₂</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b="1" i="0" lang="fr-FR" sz="1400" u="sng" cap="none" strike="noStrike">
                <a:solidFill>
                  <a:srgbClr val="000000"/>
                </a:solidFill>
                <a:latin typeface="Arial"/>
                <a:ea typeface="Arial"/>
                <a:cs typeface="Arial"/>
                <a:sym typeface="Arial"/>
              </a:rPr>
              <a:t>Scoring</a:t>
            </a:r>
            <a:r>
              <a:rPr b="0" i="0" lang="fr-FR"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R²</a:t>
            </a:r>
            <a:r>
              <a:rPr b="0" i="0" lang="fr-FR" sz="1400" u="none" cap="none" strike="noStrike">
                <a:solidFill>
                  <a:srgbClr val="000000"/>
                </a:solidFill>
                <a:latin typeface="Arial"/>
                <a:ea typeface="Arial"/>
                <a:cs typeface="Arial"/>
                <a:sym typeface="Arial"/>
              </a:rPr>
              <a:t> : permets de vérifier si le modèle parvient à capter les relations entre les variables explicatives et la variable cible.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MSE</a:t>
            </a:r>
            <a:r>
              <a:rPr b="0" i="0" lang="fr-FR" sz="1400" u="none" cap="none" strike="noStrike">
                <a:solidFill>
                  <a:srgbClr val="000000"/>
                </a:solidFill>
                <a:latin typeface="Arial"/>
                <a:ea typeface="Arial"/>
                <a:cs typeface="Arial"/>
                <a:sym typeface="Arial"/>
              </a:rPr>
              <a:t> : Plus la MSE est faible, plus les prédictions du modèle sont proches des valeurs réelles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60" name="Google Shape;260;p4"/>
          <p:cNvGrpSpPr/>
          <p:nvPr/>
        </p:nvGrpSpPr>
        <p:grpSpPr>
          <a:xfrm>
            <a:off x="416059" y="3038390"/>
            <a:ext cx="3928330" cy="3204160"/>
            <a:chOff x="6681770" y="1548938"/>
            <a:chExt cx="5365992" cy="4233641"/>
          </a:xfrm>
        </p:grpSpPr>
        <p:pic>
          <p:nvPicPr>
            <p:cNvPr descr="Une image contenant texte, capture d’écran, nombre&#10;&#10;Le contenu généré par l’IA peut être incorrect." id="261" name="Google Shape;261;p4"/>
            <p:cNvPicPr preferRelativeResize="0"/>
            <p:nvPr/>
          </p:nvPicPr>
          <p:blipFill rotWithShape="1">
            <a:blip r:embed="rId4">
              <a:alphaModFix/>
            </a:blip>
            <a:srcRect b="0" l="0" r="0" t="0"/>
            <a:stretch/>
          </p:blipFill>
          <p:spPr>
            <a:xfrm>
              <a:off x="6681770" y="1548938"/>
              <a:ext cx="5365992" cy="4233641"/>
            </a:xfrm>
            <a:prstGeom prst="rect">
              <a:avLst/>
            </a:prstGeom>
            <a:noFill/>
            <a:ln>
              <a:noFill/>
            </a:ln>
          </p:spPr>
        </p:pic>
        <p:sp>
          <p:nvSpPr>
            <p:cNvPr id="262" name="Google Shape;262;p4"/>
            <p:cNvSpPr/>
            <p:nvPr/>
          </p:nvSpPr>
          <p:spPr>
            <a:xfrm>
              <a:off x="6733309" y="2455860"/>
              <a:ext cx="4495800" cy="342758"/>
            </a:xfrm>
            <a:prstGeom prst="rect">
              <a:avLst/>
            </a:prstGeom>
            <a:noFill/>
            <a:ln cap="flat" cmpd="sng" w="25400">
              <a:solidFill>
                <a:srgbClr val="262626"/>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263" name="Google Shape;263;p4"/>
          <p:cNvSpPr txBox="1"/>
          <p:nvPr/>
        </p:nvSpPr>
        <p:spPr>
          <a:xfrm>
            <a:off x="8788400" y="1963058"/>
            <a:ext cx="2104500" cy="954300"/>
          </a:xfrm>
          <a:prstGeom prst="rect">
            <a:avLst/>
          </a:prstGeom>
          <a:noFill/>
          <a:ln>
            <a:noFill/>
          </a:ln>
        </p:spPr>
        <p:txBody>
          <a:bodyPr anchorCtr="0" anchor="t" bIns="45700" lIns="91425" spcFirstLastPara="1" rIns="91425" wrap="square" tIns="45700">
            <a:spAutoFit/>
          </a:bodyPr>
          <a:lstStyle/>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type de carburant</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constructeur</a:t>
            </a:r>
            <a:endParaRPr/>
          </a:p>
          <a:p>
            <a:pPr indent="-285750" lvl="1" marL="285750" marR="0" rtl="0" algn="l">
              <a:lnSpc>
                <a:spcPct val="100000"/>
              </a:lnSpc>
              <a:spcBef>
                <a:spcPts val="0"/>
              </a:spcBef>
              <a:spcAft>
                <a:spcPts val="0"/>
              </a:spcAft>
              <a:buClr>
                <a:srgbClr val="000000"/>
              </a:buClr>
              <a:buSzPts val="1400"/>
              <a:buFont typeface="Arial"/>
              <a:buChar char="•"/>
            </a:pPr>
            <a:r>
              <a:rPr lang="fr-FR"/>
              <a:t>p</a:t>
            </a:r>
            <a:r>
              <a:rPr b="0" i="0" lang="fr-FR" sz="1400" u="none" cap="none" strike="noStrike">
                <a:solidFill>
                  <a:srgbClr val="000000"/>
                </a:solidFill>
                <a:latin typeface="Arial"/>
                <a:ea typeface="Arial"/>
                <a:cs typeface="Arial"/>
                <a:sym typeface="Arial"/>
              </a:rPr>
              <a:t>ays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4" name="Google Shape;264;p4"/>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rgbClr val="A5A5A5"/>
                </a:solidFill>
                <a:latin typeface="Arial"/>
                <a:ea typeface="Arial"/>
                <a:cs typeface="Arial"/>
                <a:sym typeface="Arial"/>
              </a:rPr>
              <a:t> </a:t>
            </a:r>
            <a:r>
              <a:rPr b="1" i="0" lang="fr-FR" sz="1800" u="none" cap="none" strike="noStrike">
                <a:solidFill>
                  <a:srgbClr val="A5A5A5"/>
                </a:solidFil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a:t>
            </a:r>
            <a:r>
              <a:rPr i="0" lang="fr-FR" sz="1800" u="none" cap="none" strike="noStrike">
                <a:solidFill>
                  <a:srgbClr val="A5A5A5"/>
                </a:solidFill>
              </a:rPr>
              <a:t> </a:t>
            </a:r>
            <a:r>
              <a:rPr b="1" i="0" lang="fr-FR" sz="1800" u="none" cap="none" strike="noStrike">
                <a:solidFill>
                  <a:srgbClr val="A5A5A5"/>
                </a:solidFill>
              </a:rPr>
              <a:t>|</a:t>
            </a:r>
            <a:r>
              <a:rPr i="0" lang="fr-FR" sz="1800" u="none" cap="none" strike="noStrike">
                <a:solidFill>
                  <a:srgbClr val="A5A5A5"/>
                </a:solidFill>
              </a:rPr>
              <a:t> 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262626"/>
                </a:solidFill>
              </a:rPr>
              <a:t>|</a:t>
            </a:r>
            <a:r>
              <a:rPr b="1" i="0" lang="fr-FR" sz="1800" u="none" cap="none" strike="noStrike">
                <a:solidFill>
                  <a:srgbClr val="A5A5A5"/>
                </a:solidFill>
                <a:latin typeface="Arial"/>
                <a:ea typeface="Arial"/>
                <a:cs typeface="Arial"/>
                <a:sym typeface="Arial"/>
              </a:rPr>
              <a:t> </a:t>
            </a:r>
            <a:r>
              <a:rPr b="1" lang="fr-FR" sz="1800">
                <a:solidFill>
                  <a:srgbClr val="36733F"/>
                </a:solidFill>
              </a:rPr>
              <a:t>&gt; </a:t>
            </a:r>
            <a:r>
              <a:rPr b="1" i="0" lang="fr-FR" sz="1800" u="none" cap="none" strike="noStrike">
                <a:solidFill>
                  <a:schemeClr val="dk1"/>
                </a:solidFil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1"/>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Font typeface="Arial"/>
              <a:buNone/>
            </a:pPr>
            <a:r>
              <a:rPr lang="fr-FR"/>
              <a:t>Modélisation Machine Learning – </a:t>
            </a:r>
            <a:br>
              <a:rPr lang="fr-FR"/>
            </a:br>
            <a:r>
              <a:rPr lang="fr-FR" sz="3600">
                <a:solidFill>
                  <a:schemeClr val="accent3"/>
                </a:solidFill>
              </a:rPr>
              <a:t>Résultats, interprétations &amp; Vérifications</a:t>
            </a:r>
            <a:endParaRPr sz="3900">
              <a:solidFill>
                <a:schemeClr val="accent3"/>
              </a:solidFill>
            </a:endParaRPr>
          </a:p>
        </p:txBody>
      </p:sp>
      <p:sp>
        <p:nvSpPr>
          <p:cNvPr id="270" name="Google Shape;270;p11"/>
          <p:cNvSpPr txBox="1"/>
          <p:nvPr/>
        </p:nvSpPr>
        <p:spPr>
          <a:xfrm>
            <a:off x="8564" y="1499038"/>
            <a:ext cx="5256300" cy="504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Résultats</a:t>
            </a:r>
            <a:r>
              <a:rPr b="0" i="0" lang="fr-FR"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R²</a:t>
            </a:r>
            <a:r>
              <a:rPr b="0" i="0" lang="fr-FR" sz="1400" u="none" cap="none" strike="noStrike">
                <a:solidFill>
                  <a:srgbClr val="000000"/>
                </a:solidFill>
                <a:latin typeface="Arial"/>
                <a:ea typeface="Arial"/>
                <a:cs typeface="Arial"/>
                <a:sym typeface="Arial"/>
              </a:rPr>
              <a:t> ≈ </a:t>
            </a:r>
            <a:r>
              <a:rPr b="1" i="0" lang="fr-FR" sz="1400" u="none" cap="none" strike="noStrike">
                <a:solidFill>
                  <a:srgbClr val="000000"/>
                </a:solidFill>
                <a:latin typeface="Arial"/>
                <a:ea typeface="Arial"/>
                <a:cs typeface="Arial"/>
                <a:sym typeface="Arial"/>
              </a:rPr>
              <a:t>0,92</a:t>
            </a:r>
            <a:r>
              <a:rPr b="0" i="0" lang="fr-FR" sz="1400" u="none" cap="none" strike="noStrike">
                <a:solidFill>
                  <a:srgbClr val="000000"/>
                </a:solidFill>
                <a:latin typeface="Arial"/>
                <a:ea typeface="Arial"/>
                <a:cs typeface="Arial"/>
                <a:sym typeface="Arial"/>
              </a:rPr>
              <a:t> en </a:t>
            </a:r>
            <a:r>
              <a:rPr b="1" i="0" lang="fr-FR" sz="1400" u="none" cap="none" strike="noStrike">
                <a:solidFill>
                  <a:srgbClr val="000000"/>
                </a:solidFill>
                <a:latin typeface="Arial"/>
                <a:ea typeface="Arial"/>
                <a:cs typeface="Arial"/>
                <a:sym typeface="Arial"/>
              </a:rPr>
              <a:t>entraînement</a:t>
            </a:r>
            <a:r>
              <a:rPr b="0" i="0" lang="fr-FR" sz="1400" u="none" cap="none" strike="noStrike">
                <a:solidFill>
                  <a:srgbClr val="000000"/>
                </a:solidFill>
                <a:latin typeface="Arial"/>
                <a:ea typeface="Arial"/>
                <a:cs typeface="Arial"/>
                <a:sym typeface="Arial"/>
              </a:rPr>
              <a:t> et en </a:t>
            </a:r>
            <a:r>
              <a:rPr b="1" i="0" lang="fr-FR" sz="1400" u="none" cap="none" strike="noStrike">
                <a:solidFill>
                  <a:srgbClr val="000000"/>
                </a:solidFill>
                <a:latin typeface="Arial"/>
                <a:ea typeface="Arial"/>
                <a:cs typeface="Arial"/>
                <a:sym typeface="Arial"/>
              </a:rPr>
              <a:t>test</a:t>
            </a:r>
            <a:r>
              <a:rPr b="0" i="0" lang="fr-FR" sz="1400" u="none" cap="none" strike="noStrike">
                <a:solidFill>
                  <a:srgbClr val="000000"/>
                </a:solidFill>
                <a:latin typeface="Arial"/>
                <a:ea typeface="Arial"/>
                <a:cs typeface="Arial"/>
                <a:sym typeface="Arial"/>
              </a:rPr>
              <a:t> ce qui montre que :</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lang="fr-FR"/>
              <a:t>L</a:t>
            </a:r>
            <a:r>
              <a:rPr b="0" i="0" lang="fr-FR" sz="1400" u="none" cap="none" strike="noStrike">
                <a:solidFill>
                  <a:srgbClr val="000000"/>
                </a:solidFill>
                <a:latin typeface="Arial"/>
                <a:ea typeface="Arial"/>
                <a:cs typeface="Arial"/>
                <a:sym typeface="Arial"/>
              </a:rPr>
              <a:t>e modèle explique de manière stable et cohérente la relation entre les caractéristiques des véhicules et leurs émissions de CO₂, sans perte de performance sur des données non vues.</a:t>
            </a:r>
            <a:endParaRPr/>
          </a:p>
          <a:p>
            <a:pPr indent="-285750" lvl="1" marL="285750" marR="0" rtl="0" algn="l">
              <a:lnSpc>
                <a:spcPct val="100000"/>
              </a:lnSpc>
              <a:spcBef>
                <a:spcPts val="0"/>
              </a:spcBef>
              <a:spcAft>
                <a:spcPts val="0"/>
              </a:spcAft>
              <a:buClr>
                <a:srgbClr val="000000"/>
              </a:buClr>
              <a:buSzPts val="1400"/>
              <a:buFont typeface="Arial"/>
              <a:buChar char="•"/>
            </a:pPr>
            <a:r>
              <a:rPr lang="fr-FR"/>
              <a:t>U</a:t>
            </a:r>
            <a:r>
              <a:rPr b="0" i="0" lang="fr-FR" sz="1400" u="none" cap="none" strike="noStrike">
                <a:solidFill>
                  <a:srgbClr val="000000"/>
                </a:solidFill>
                <a:latin typeface="Arial"/>
                <a:ea typeface="Arial"/>
                <a:cs typeface="Arial"/>
                <a:sym typeface="Arial"/>
              </a:rPr>
              <a:t>n score élevé sur le train et le test, ainsi que la qualité des données permettent de vérifier l’absence de </a:t>
            </a:r>
            <a:r>
              <a:rPr b="1" i="0" lang="fr-FR" sz="1400" u="none" cap="none" strike="noStrike">
                <a:solidFill>
                  <a:srgbClr val="000000"/>
                </a:solidFill>
                <a:latin typeface="Arial"/>
                <a:ea typeface="Arial"/>
                <a:cs typeface="Arial"/>
                <a:sym typeface="Arial"/>
              </a:rPr>
              <a:t>surapprentissage</a:t>
            </a:r>
            <a:r>
              <a:rPr b="0" i="0" lang="fr-FR" sz="1400" u="none" cap="none" strike="noStrike">
                <a:solidFill>
                  <a:srgbClr val="000000"/>
                </a:solidFill>
                <a:latin typeface="Arial"/>
                <a:ea typeface="Arial"/>
                <a:cs typeface="Arial"/>
                <a:sym typeface="Arial"/>
              </a:rPr>
              <a:t> et donc une bonne généralisation du modèle</a:t>
            </a:r>
            <a:r>
              <a:rPr lang="fr-FR"/>
              <a:t>.</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MSE ≈ 7</a:t>
            </a:r>
            <a:r>
              <a:rPr b="1" lang="fr-FR"/>
              <a:t>3</a:t>
            </a:r>
            <a:r>
              <a:rPr b="0" i="0" lang="fr-FR" sz="1400" u="none" cap="none" strike="noStrike">
                <a:solidFill>
                  <a:srgbClr val="000000"/>
                </a:solidFill>
                <a:latin typeface="Arial"/>
                <a:ea typeface="Arial"/>
                <a:cs typeface="Arial"/>
                <a:sym typeface="Arial"/>
              </a:rPr>
              <a:t> en </a:t>
            </a:r>
            <a:r>
              <a:rPr b="1" i="0" lang="fr-FR" sz="1400" u="none" cap="none" strike="noStrike">
                <a:solidFill>
                  <a:srgbClr val="000000"/>
                </a:solidFill>
                <a:latin typeface="Arial"/>
                <a:ea typeface="Arial"/>
                <a:cs typeface="Arial"/>
                <a:sym typeface="Arial"/>
              </a:rPr>
              <a:t>entraînement</a:t>
            </a:r>
            <a:r>
              <a:rPr b="0" i="0" lang="fr-FR" sz="1400" u="none" cap="none" strike="noStrike">
                <a:solidFill>
                  <a:srgbClr val="000000"/>
                </a:solidFill>
                <a:latin typeface="Arial"/>
                <a:ea typeface="Arial"/>
                <a:cs typeface="Arial"/>
                <a:sym typeface="Arial"/>
              </a:rPr>
              <a:t> et en </a:t>
            </a:r>
            <a:r>
              <a:rPr b="1" i="0" lang="fr-FR" sz="1400" u="none" cap="none" strike="noStrike">
                <a:solidFill>
                  <a:srgbClr val="000000"/>
                </a:solidFill>
                <a:latin typeface="Arial"/>
                <a:ea typeface="Arial"/>
                <a:cs typeface="Arial"/>
                <a:sym typeface="Arial"/>
              </a:rPr>
              <a:t>test</a:t>
            </a:r>
            <a:r>
              <a:rPr b="0" i="0" lang="fr-FR" sz="1400" u="none" cap="none" strike="noStrike">
                <a:solidFill>
                  <a:srgbClr val="000000"/>
                </a:solidFill>
                <a:latin typeface="Arial"/>
                <a:ea typeface="Arial"/>
                <a:cs typeface="Arial"/>
                <a:sym typeface="Arial"/>
              </a:rPr>
              <a:t> montre que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a:p>
          <a:p>
            <a:pPr indent="-285750" lvl="0" marL="285750" marR="0" rtl="0" algn="l">
              <a:lnSpc>
                <a:spcPct val="100000"/>
              </a:lnSpc>
              <a:spcBef>
                <a:spcPts val="0"/>
              </a:spcBef>
              <a:spcAft>
                <a:spcPts val="0"/>
              </a:spcAft>
              <a:buClr>
                <a:srgbClr val="000000"/>
              </a:buClr>
              <a:buSzPts val="1400"/>
              <a:buFont typeface="Arial"/>
              <a:buChar char="•"/>
            </a:pPr>
            <a:r>
              <a:rPr lang="fr-FR"/>
              <a:t>L</a:t>
            </a:r>
            <a:r>
              <a:rPr b="0" i="0" lang="fr-FR" sz="1400" u="none" cap="none" strike="noStrike">
                <a:solidFill>
                  <a:srgbClr val="000000"/>
                </a:solidFill>
                <a:latin typeface="Arial"/>
                <a:ea typeface="Arial"/>
                <a:cs typeface="Arial"/>
                <a:sym typeface="Arial"/>
              </a:rPr>
              <a:t>e modèle commet une erreur de l’ordre de </a:t>
            </a:r>
            <a:r>
              <a:rPr b="1" i="0" lang="fr-FR" sz="1400" u="none" cap="none" strike="noStrike">
                <a:solidFill>
                  <a:srgbClr val="000000"/>
                </a:solidFill>
                <a:latin typeface="Arial"/>
                <a:ea typeface="Arial"/>
                <a:cs typeface="Arial"/>
                <a:sym typeface="Arial"/>
              </a:rPr>
              <a:t>√73 ≈ 8,5 g de CO₂ par km</a:t>
            </a:r>
            <a:r>
              <a:rPr b="0" i="0" lang="fr-FR" sz="1400" u="none" cap="none" strike="noStrike">
                <a:solidFill>
                  <a:srgbClr val="000000"/>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Écart moyen entre valeurs prédites et réels stables</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Précision des prédictions </a:t>
            </a:r>
            <a:r>
              <a:rPr b="1" i="0" lang="fr-FR" sz="1400" u="none" cap="none" strike="noStrike">
                <a:solidFill>
                  <a:srgbClr val="000000"/>
                </a:solidFill>
                <a:latin typeface="Arial"/>
                <a:ea typeface="Arial"/>
                <a:cs typeface="Arial"/>
                <a:sym typeface="Arial"/>
              </a:rPr>
              <a:t>constante</a:t>
            </a:r>
            <a:r>
              <a:rPr b="0" i="0" lang="fr-FR" sz="1400" u="none" cap="none" strike="noStrike">
                <a:solidFill>
                  <a:srgbClr val="000000"/>
                </a:solidFill>
                <a:latin typeface="Arial"/>
                <a:ea typeface="Arial"/>
                <a:cs typeface="Arial"/>
                <a:sym typeface="Arial"/>
              </a:rPr>
              <a:t> sur données non vues</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Absence de dégradation des performances</a:t>
            </a:r>
            <a:endParaRPr/>
          </a:p>
          <a:p>
            <a:pPr indent="-285750" lvl="0" marL="285750" marR="0" rtl="0" algn="l">
              <a:lnSpc>
                <a:spcPct val="100000"/>
              </a:lnSpc>
              <a:spcBef>
                <a:spcPts val="0"/>
              </a:spcBef>
              <a:spcAft>
                <a:spcPts val="0"/>
              </a:spcAft>
              <a:buClr>
                <a:srgbClr val="000000"/>
              </a:buClr>
              <a:buSzPts val="1400"/>
              <a:buFont typeface="Arial"/>
              <a:buChar char="•"/>
            </a:pPr>
            <a:r>
              <a:rPr b="1" i="0" lang="fr-FR" sz="1400" u="none" cap="none" strike="noStrike">
                <a:solidFill>
                  <a:srgbClr val="000000"/>
                </a:solidFill>
                <a:latin typeface="Arial"/>
                <a:ea typeface="Arial"/>
                <a:cs typeface="Arial"/>
                <a:sym typeface="Arial"/>
              </a:rPr>
              <a:t>Confirmation de la bonne généralisation</a:t>
            </a:r>
            <a:r>
              <a:rPr b="0" i="0" lang="fr-FR" sz="1400" u="none" cap="none" strike="noStrike">
                <a:solidFill>
                  <a:srgbClr val="000000"/>
                </a:solidFill>
                <a:latin typeface="Arial"/>
                <a:ea typeface="Arial"/>
                <a:cs typeface="Arial"/>
                <a:sym typeface="Arial"/>
              </a:rPr>
              <a:t> du modèle</a:t>
            </a:r>
            <a:endParaRPr/>
          </a:p>
          <a:p>
            <a:pPr indent="0" lvl="1"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11"/>
          <p:cNvSpPr txBox="1"/>
          <p:nvPr/>
        </p:nvSpPr>
        <p:spPr>
          <a:xfrm>
            <a:off x="6131303" y="1505968"/>
            <a:ext cx="5946900" cy="525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En </a:t>
            </a:r>
            <a:r>
              <a:rPr b="1" i="0" lang="fr-FR" sz="1400" u="none" cap="none" strike="noStrike">
                <a:solidFill>
                  <a:srgbClr val="000000"/>
                </a:solidFill>
                <a:latin typeface="Arial"/>
                <a:ea typeface="Arial"/>
                <a:cs typeface="Arial"/>
                <a:sym typeface="Arial"/>
              </a:rPr>
              <a:t>Data Science </a:t>
            </a:r>
            <a:r>
              <a:rPr b="0" i="0" lang="fr-FR" sz="1400" u="none" cap="none" strike="noStrike">
                <a:solidFill>
                  <a:srgbClr val="000000"/>
                </a:solidFill>
                <a:latin typeface="Arial"/>
                <a:ea typeface="Arial"/>
                <a:cs typeface="Arial"/>
                <a:sym typeface="Arial"/>
              </a:rPr>
              <a:t>un résultat élevé et souvent synonyme du </a:t>
            </a:r>
            <a:r>
              <a:rPr b="1" i="0" lang="fr-FR" sz="1400" u="none" cap="none" strike="noStrike">
                <a:solidFill>
                  <a:srgbClr val="000000"/>
                </a:solidFill>
                <a:latin typeface="Arial"/>
                <a:ea typeface="Arial"/>
                <a:cs typeface="Arial"/>
                <a:sym typeface="Arial"/>
              </a:rPr>
              <a:t>surapprentissage</a:t>
            </a:r>
            <a:r>
              <a:rPr b="0" i="0" lang="fr-FR" sz="1400" u="none" cap="none" strike="noStrike">
                <a:solidFill>
                  <a:srgbClr val="000000"/>
                </a:solidFill>
                <a:latin typeface="Arial"/>
                <a:ea typeface="Arial"/>
                <a:cs typeface="Arial"/>
                <a:sym typeface="Arial"/>
              </a:rPr>
              <a:t> du modèle. Dans notre cas cela semble ne semble pas être le cas. Cependant il est important de vérifier s’il n’y a pas de fuite de données (</a:t>
            </a:r>
            <a:r>
              <a:rPr b="1" i="0" lang="fr-FR" sz="1400" u="none" cap="none" strike="noStrike">
                <a:solidFill>
                  <a:srgbClr val="000000"/>
                </a:solidFill>
                <a:latin typeface="Arial"/>
                <a:ea typeface="Arial"/>
                <a:cs typeface="Arial"/>
                <a:sym typeface="Arial"/>
              </a:rPr>
              <a:t>DataLeakage)</a:t>
            </a:r>
            <a:r>
              <a:rPr b="0" i="0" lang="fr-FR" sz="1400" u="none" cap="none" strike="noStrike">
                <a:solidFill>
                  <a:srgbClr val="000000"/>
                </a:solidFill>
                <a:latin typeface="Arial"/>
                <a:ea typeface="Arial"/>
                <a:cs typeface="Arial"/>
                <a:sym typeface="Arial"/>
              </a:rPr>
              <a:t> grâce cette ligne de code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Ce code réalise un test de permutation de la variable cible afin de vérifier que les performances du modèle reposent sur une relation réelle entre les variables et non sur une fuite d’information.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R² avec cible mélangée ≈ </a:t>
            </a:r>
            <a:r>
              <a:rPr lang="fr-FR" sz="1350">
                <a:solidFill>
                  <a:schemeClr val="dk1"/>
                </a:solidFill>
              </a:rPr>
              <a:t>-0.00011529047304144057</a:t>
            </a:r>
            <a:endParaRPr sz="1350">
              <a:solidFill>
                <a:schemeClr val="dk1"/>
              </a:solidFill>
            </a:endParaRPr>
          </a:p>
          <a:p>
            <a:pPr indent="0" lvl="0" marL="0" marR="0" rtl="0" algn="l">
              <a:lnSpc>
                <a:spcPct val="100000"/>
              </a:lnSpc>
              <a:spcBef>
                <a:spcPts val="0"/>
              </a:spcBef>
              <a:spcAft>
                <a:spcPts val="0"/>
              </a:spcAft>
              <a:buNone/>
            </a:pPr>
            <a:r>
              <a:t/>
            </a:r>
            <a:endParaRPr sz="1350">
              <a:solidFill>
                <a:schemeClr val="dk1"/>
              </a:solidFil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Réalisation d’un </a:t>
            </a:r>
            <a:r>
              <a:rPr b="1" i="0" lang="fr-FR" sz="1400" u="none" cap="none" strike="noStrike">
                <a:solidFill>
                  <a:srgbClr val="000000"/>
                </a:solidFill>
                <a:latin typeface="Arial"/>
                <a:ea typeface="Arial"/>
                <a:cs typeface="Arial"/>
                <a:sym typeface="Arial"/>
              </a:rPr>
              <a:t>test de permutation de la variable cible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Destruction volontaire des relations entre variables explicatives et cible</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Chute des performances après permutation</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bonnes performances initiales reposent sur des </a:t>
            </a:r>
            <a:r>
              <a:rPr b="1" i="0" lang="fr-FR" sz="1400" u="none" cap="none" strike="noStrike">
                <a:solidFill>
                  <a:srgbClr val="000000"/>
                </a:solidFill>
                <a:latin typeface="Arial"/>
                <a:ea typeface="Arial"/>
                <a:cs typeface="Arial"/>
                <a:sym typeface="Arial"/>
              </a:rPr>
              <a:t>relations réelles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i="0" lang="fr-FR" sz="1400" u="none" cap="none" strike="noStrike">
                <a:solidFill>
                  <a:srgbClr val="000000"/>
                </a:solidFill>
                <a:latin typeface="Arial"/>
                <a:ea typeface="Arial"/>
                <a:cs typeface="Arial"/>
                <a:sym typeface="Arial"/>
              </a:rPr>
              <a:t>Absence de fuite d’information (data leakage)</a:t>
            </a:r>
            <a:r>
              <a:rPr b="0" i="0" lang="fr-FR" sz="1400" u="none" cap="none" strike="noStrike">
                <a:solidFill>
                  <a:srgbClr val="000000"/>
                </a:solidFill>
                <a:latin typeface="Arial"/>
                <a:ea typeface="Arial"/>
                <a:cs typeface="Arial"/>
                <a:sym typeface="Arial"/>
              </a:rPr>
              <a:t> confirmée</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artie gauche du cerveau avec un remplissage uni" id="272" name="Google Shape;272;p11"/>
          <p:cNvPicPr preferRelativeResize="0"/>
          <p:nvPr/>
        </p:nvPicPr>
        <p:blipFill rotWithShape="1">
          <a:blip r:embed="rId3">
            <a:alphaModFix/>
          </a:blip>
          <a:srcRect b="0" l="0" r="0" t="0"/>
          <a:stretch/>
        </p:blipFill>
        <p:spPr>
          <a:xfrm>
            <a:off x="5352558" y="1505989"/>
            <a:ext cx="649602" cy="649602"/>
          </a:xfrm>
          <a:prstGeom prst="rect">
            <a:avLst/>
          </a:prstGeom>
          <a:noFill/>
          <a:ln>
            <a:noFill/>
          </a:ln>
        </p:spPr>
      </p:pic>
      <p:pic>
        <p:nvPicPr>
          <p:cNvPr descr="Une image contenant capture d’écran, texte, Police&#10;&#10;Le contenu généré par l’IA peut être incorrect." id="273" name="Google Shape;273;p11"/>
          <p:cNvPicPr preferRelativeResize="0"/>
          <p:nvPr/>
        </p:nvPicPr>
        <p:blipFill rotWithShape="1">
          <a:blip r:embed="rId4">
            <a:alphaModFix/>
          </a:blip>
          <a:srcRect b="0" l="0" r="0" t="0"/>
          <a:stretch/>
        </p:blipFill>
        <p:spPr>
          <a:xfrm>
            <a:off x="6191185" y="2521470"/>
            <a:ext cx="5648593" cy="1036175"/>
          </a:xfrm>
          <a:prstGeom prst="rect">
            <a:avLst/>
          </a:prstGeom>
          <a:noFill/>
          <a:ln>
            <a:noFill/>
          </a:ln>
        </p:spPr>
      </p:pic>
      <p:sp>
        <p:nvSpPr>
          <p:cNvPr id="274" name="Google Shape;274;p11"/>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rgbClr val="A5A5A5"/>
                </a:solidFill>
                <a:latin typeface="Arial"/>
                <a:ea typeface="Arial"/>
                <a:cs typeface="Arial"/>
                <a:sym typeface="Arial"/>
              </a:rPr>
              <a:t> </a:t>
            </a:r>
            <a:r>
              <a:rPr b="1" i="0" lang="fr-FR" sz="1800" u="none" cap="none" strike="noStrike">
                <a:solidFill>
                  <a:srgbClr val="A5A5A5"/>
                </a:solidFil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a:t>
            </a:r>
            <a:r>
              <a:rPr i="0" lang="fr-FR" sz="1800" u="none" cap="none" strike="noStrike">
                <a:solidFill>
                  <a:srgbClr val="A5A5A5"/>
                </a:solidFill>
              </a:rPr>
              <a:t> </a:t>
            </a:r>
            <a:r>
              <a:rPr b="1" i="0" lang="fr-FR" sz="1800" u="none" cap="none" strike="noStrike">
                <a:solidFill>
                  <a:srgbClr val="A5A5A5"/>
                </a:solidFill>
              </a:rPr>
              <a:t>|</a:t>
            </a:r>
            <a:r>
              <a:rPr i="0" lang="fr-FR" sz="1800" u="none" cap="none" strike="noStrike">
                <a:solidFill>
                  <a:srgbClr val="A5A5A5"/>
                </a:solidFill>
              </a:rPr>
              <a:t> 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262626"/>
                </a:solidFill>
              </a:rPr>
              <a:t>|</a:t>
            </a:r>
            <a:r>
              <a:rPr b="1" i="0" lang="fr-FR" sz="1800" u="none" cap="none" strike="noStrike">
                <a:solidFill>
                  <a:srgbClr val="A5A5A5"/>
                </a:solidFill>
                <a:latin typeface="Arial"/>
                <a:ea typeface="Arial"/>
                <a:cs typeface="Arial"/>
                <a:sym typeface="Arial"/>
              </a:rPr>
              <a:t> </a:t>
            </a:r>
            <a:r>
              <a:rPr b="1" lang="fr-FR" sz="1800">
                <a:solidFill>
                  <a:srgbClr val="36733F"/>
                </a:solidFill>
              </a:rPr>
              <a:t>&gt; </a:t>
            </a:r>
            <a:r>
              <a:rPr b="1" i="0" lang="fr-FR" sz="1800" u="none" cap="none" strike="noStrike">
                <a:solidFill>
                  <a:schemeClr val="dk1"/>
                </a:solidFil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2"/>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Font typeface="Arial"/>
              <a:buNone/>
            </a:pPr>
            <a:r>
              <a:rPr lang="fr-FR"/>
              <a:t>Modélisation Machine Learning – </a:t>
            </a:r>
            <a:br>
              <a:rPr lang="fr-FR"/>
            </a:br>
            <a:r>
              <a:rPr lang="fr-FR" sz="3600">
                <a:solidFill>
                  <a:schemeClr val="accent3"/>
                </a:solidFill>
              </a:rPr>
              <a:t>Visualisations</a:t>
            </a:r>
            <a:endParaRPr sz="3900">
              <a:solidFill>
                <a:schemeClr val="accent3"/>
              </a:solidFill>
            </a:endParaRPr>
          </a:p>
        </p:txBody>
      </p:sp>
      <p:sp>
        <p:nvSpPr>
          <p:cNvPr id="280" name="Google Shape;280;p12"/>
          <p:cNvSpPr txBox="1"/>
          <p:nvPr/>
        </p:nvSpPr>
        <p:spPr>
          <a:xfrm>
            <a:off x="566753" y="1483776"/>
            <a:ext cx="4347704"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Analyse de la learning curve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Étude de l’évolution des performances en fonction de la taille du jeu d’entraînement.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Observation</a:t>
            </a:r>
            <a:r>
              <a:rPr b="0" i="0" lang="fr-FR" sz="1400" u="none" cap="none" strike="noStrike">
                <a:solidFill>
                  <a:srgbClr val="000000"/>
                </a:solidFill>
                <a:latin typeface="Arial"/>
                <a:ea typeface="Arial"/>
                <a:cs typeface="Arial"/>
                <a:sym typeface="Arial"/>
              </a:rPr>
              <a:t> :</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Convergence des scores train et validation</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Stabilité du modèle sur de grands volumes de données</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Confirme une </a:t>
            </a:r>
            <a:r>
              <a:rPr b="1" i="0" lang="fr-FR" sz="1400" u="none" cap="none" strike="noStrike">
                <a:solidFill>
                  <a:srgbClr val="000000"/>
                </a:solidFill>
                <a:latin typeface="Arial"/>
                <a:ea typeface="Arial"/>
                <a:cs typeface="Arial"/>
                <a:sym typeface="Arial"/>
              </a:rPr>
              <a:t>bonne généralisation</a:t>
            </a:r>
            <a:r>
              <a:rPr b="0" i="0" lang="fr-FR" sz="1400" u="none" cap="none" strike="noStrike">
                <a:solidFill>
                  <a:srgbClr val="000000"/>
                </a:solidFill>
                <a:latin typeface="Arial"/>
                <a:ea typeface="Arial"/>
                <a:cs typeface="Arial"/>
                <a:sym typeface="Arial"/>
              </a:rPr>
              <a:t> du modèle</a:t>
            </a:r>
            <a:endParaRPr/>
          </a:p>
        </p:txBody>
      </p:sp>
      <p:pic>
        <p:nvPicPr>
          <p:cNvPr descr="Graphique à barres avec tendance à la hausse contour" id="281" name="Google Shape;281;p12"/>
          <p:cNvPicPr preferRelativeResize="0"/>
          <p:nvPr/>
        </p:nvPicPr>
        <p:blipFill rotWithShape="1">
          <a:blip r:embed="rId3">
            <a:alphaModFix/>
          </a:blip>
          <a:srcRect b="0" l="0" r="0" t="0"/>
          <a:stretch/>
        </p:blipFill>
        <p:spPr>
          <a:xfrm>
            <a:off x="-61911" y="1425215"/>
            <a:ext cx="700100" cy="700100"/>
          </a:xfrm>
          <a:prstGeom prst="rect">
            <a:avLst/>
          </a:prstGeom>
          <a:noFill/>
          <a:ln>
            <a:noFill/>
          </a:ln>
        </p:spPr>
      </p:pic>
      <p:sp>
        <p:nvSpPr>
          <p:cNvPr id="282" name="Google Shape;282;p12"/>
          <p:cNvSpPr txBox="1"/>
          <p:nvPr/>
        </p:nvSpPr>
        <p:spPr>
          <a:xfrm>
            <a:off x="6378851" y="1486295"/>
            <a:ext cx="5486918"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Comparaison entre </a:t>
            </a:r>
            <a:r>
              <a:rPr b="1" i="0" lang="fr-FR" sz="1400" u="none" cap="none" strike="noStrike">
                <a:solidFill>
                  <a:srgbClr val="000000"/>
                </a:solidFill>
                <a:latin typeface="Arial"/>
                <a:ea typeface="Arial"/>
                <a:cs typeface="Arial"/>
                <a:sym typeface="Arial"/>
              </a:rPr>
              <a:t>émissions de CO₂ réelles</a:t>
            </a:r>
            <a:r>
              <a:rPr b="0" i="0" lang="fr-FR" sz="1400" u="none" cap="none" strike="noStrike">
                <a:solidFill>
                  <a:srgbClr val="000000"/>
                </a:solidFill>
                <a:latin typeface="Arial"/>
                <a:ea typeface="Arial"/>
                <a:cs typeface="Arial"/>
                <a:sym typeface="Arial"/>
              </a:rPr>
              <a:t> et </a:t>
            </a:r>
            <a:r>
              <a:rPr b="1" i="0" lang="fr-FR" sz="1400" u="none" cap="none" strike="noStrike">
                <a:solidFill>
                  <a:srgbClr val="000000"/>
                </a:solidFill>
                <a:latin typeface="Arial"/>
                <a:ea typeface="Arial"/>
                <a:cs typeface="Arial"/>
                <a:sym typeface="Arial"/>
              </a:rPr>
              <a:t>émissions prédites</a:t>
            </a:r>
            <a:r>
              <a:rPr b="0" i="0" lang="fr-FR" sz="1400" u="none" cap="none" strike="noStrike">
                <a:solidFill>
                  <a:srgbClr val="000000"/>
                </a:solidFill>
                <a:latin typeface="Arial"/>
                <a:ea typeface="Arial"/>
                <a:cs typeface="Arial"/>
                <a:sym typeface="Arial"/>
              </a:rPr>
              <a:t> sur un échantillon de 100 véhicules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Observation</a:t>
            </a:r>
            <a:r>
              <a:rPr b="0" i="0" lang="fr-FR" sz="1400" u="none" cap="none" strike="noStrike">
                <a:solidFill>
                  <a:srgbClr val="000000"/>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prédictions suivent </a:t>
            </a:r>
            <a:r>
              <a:rPr b="1" i="0" lang="fr-FR" sz="1400" u="none" cap="none" strike="noStrike">
                <a:solidFill>
                  <a:srgbClr val="000000"/>
                </a:solidFill>
                <a:latin typeface="Arial"/>
                <a:ea typeface="Arial"/>
                <a:cs typeface="Arial"/>
                <a:sym typeface="Arial"/>
              </a:rPr>
              <a:t>globalement bien la tendance</a:t>
            </a:r>
            <a:r>
              <a:rPr b="0" i="0" lang="fr-FR" sz="1400" u="none" cap="none" strike="noStrike">
                <a:solidFill>
                  <a:srgbClr val="000000"/>
                </a:solidFill>
                <a:latin typeface="Arial"/>
                <a:ea typeface="Arial"/>
                <a:cs typeface="Arial"/>
                <a:sym typeface="Arial"/>
              </a:rPr>
              <a:t> des valeurs réelles</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Bonne capacité du modèle à reproduire les émissions de CO₂</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différences résiduelles sont cohérentes avec l’erreur moyenne observée (MSE)</a:t>
            </a:r>
            <a:endParaRPr/>
          </a:p>
        </p:txBody>
      </p:sp>
      <p:pic>
        <p:nvPicPr>
          <p:cNvPr descr="Une image contenant texte, Tracé, ligne, diagramme&#10;&#10;Le contenu généré par l’IA peut être incorrect." id="283" name="Google Shape;283;p12"/>
          <p:cNvPicPr preferRelativeResize="0"/>
          <p:nvPr/>
        </p:nvPicPr>
        <p:blipFill rotWithShape="1">
          <a:blip r:embed="rId4">
            <a:alphaModFix/>
          </a:blip>
          <a:srcRect b="0" l="0" r="0" t="0"/>
          <a:stretch/>
        </p:blipFill>
        <p:spPr>
          <a:xfrm>
            <a:off x="595326" y="3515103"/>
            <a:ext cx="4347704" cy="2839934"/>
          </a:xfrm>
          <a:prstGeom prst="rect">
            <a:avLst/>
          </a:prstGeom>
          <a:noFill/>
          <a:ln>
            <a:noFill/>
          </a:ln>
        </p:spPr>
      </p:pic>
      <p:pic>
        <p:nvPicPr>
          <p:cNvPr descr="Une image contenant texte, ligne, diagramme, Tracé&#10;&#10;Le contenu généré par l’IA peut être incorrect." id="284" name="Google Shape;284;p12"/>
          <p:cNvPicPr preferRelativeResize="0"/>
          <p:nvPr/>
        </p:nvPicPr>
        <p:blipFill rotWithShape="1">
          <a:blip r:embed="rId5">
            <a:alphaModFix/>
          </a:blip>
          <a:srcRect b="0" l="0" r="0" t="0"/>
          <a:stretch/>
        </p:blipFill>
        <p:spPr>
          <a:xfrm>
            <a:off x="7081007" y="3515101"/>
            <a:ext cx="4077019" cy="2839715"/>
          </a:xfrm>
          <a:prstGeom prst="rect">
            <a:avLst/>
          </a:prstGeom>
          <a:noFill/>
          <a:ln>
            <a:noFill/>
          </a:ln>
        </p:spPr>
      </p:pic>
      <p:sp>
        <p:nvSpPr>
          <p:cNvPr id="285" name="Google Shape;285;p12"/>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rgbClr val="A5A5A5"/>
                </a:solidFill>
                <a:latin typeface="Arial"/>
                <a:ea typeface="Arial"/>
                <a:cs typeface="Arial"/>
                <a:sym typeface="Arial"/>
              </a:rPr>
              <a:t> </a:t>
            </a:r>
            <a:r>
              <a:rPr b="1" i="0" lang="fr-FR" sz="1800" u="none" cap="none" strike="noStrike">
                <a:solidFill>
                  <a:srgbClr val="A5A5A5"/>
                </a:solidFil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a:t>
            </a:r>
            <a:r>
              <a:rPr i="0" lang="fr-FR" sz="1800" u="none" cap="none" strike="noStrike">
                <a:solidFill>
                  <a:srgbClr val="A5A5A5"/>
                </a:solidFill>
              </a:rPr>
              <a:t> </a:t>
            </a:r>
            <a:r>
              <a:rPr b="1" i="0" lang="fr-FR" sz="1800" u="none" cap="none" strike="noStrike">
                <a:solidFill>
                  <a:srgbClr val="A5A5A5"/>
                </a:solidFill>
              </a:rPr>
              <a:t>|</a:t>
            </a:r>
            <a:r>
              <a:rPr i="0" lang="fr-FR" sz="1800" u="none" cap="none" strike="noStrike">
                <a:solidFill>
                  <a:srgbClr val="A5A5A5"/>
                </a:solidFill>
              </a:rPr>
              <a:t> 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262626"/>
                </a:solidFill>
              </a:rPr>
              <a:t>|</a:t>
            </a:r>
            <a:r>
              <a:rPr b="1" i="0" lang="fr-FR" sz="1800" u="none" cap="none" strike="noStrike">
                <a:solidFill>
                  <a:srgbClr val="A5A5A5"/>
                </a:solidFill>
                <a:latin typeface="Arial"/>
                <a:ea typeface="Arial"/>
                <a:cs typeface="Arial"/>
                <a:sym typeface="Arial"/>
              </a:rPr>
              <a:t> </a:t>
            </a:r>
            <a:r>
              <a:rPr b="1" lang="fr-FR" sz="1800">
                <a:solidFill>
                  <a:srgbClr val="36733F"/>
                </a:solidFill>
              </a:rPr>
              <a:t>&gt; </a:t>
            </a:r>
            <a:r>
              <a:rPr b="1" i="0" lang="fr-FR" sz="1800" u="none" cap="none" strike="noStrike">
                <a:solidFill>
                  <a:schemeClr val="dk1"/>
                </a:solidFill>
              </a:rPr>
              <a:t>Machine Learning</a:t>
            </a:r>
            <a:endParaRPr b="0" i="0" sz="1800" u="none" cap="none" strike="noStrike">
              <a:solidFill>
                <a:srgbClr val="A5A5A5"/>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3"/>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Font typeface="Arial"/>
              <a:buNone/>
            </a:pPr>
            <a:r>
              <a:rPr lang="fr-FR"/>
              <a:t>Modélisation Machine Learning – </a:t>
            </a:r>
            <a:br>
              <a:rPr lang="fr-FR"/>
            </a:br>
            <a:r>
              <a:rPr lang="fr-FR" sz="3600">
                <a:solidFill>
                  <a:schemeClr val="accent3"/>
                </a:solidFill>
              </a:rPr>
              <a:t>Conclusion</a:t>
            </a:r>
            <a:endParaRPr sz="3900">
              <a:solidFill>
                <a:schemeClr val="accent3"/>
              </a:solidFill>
            </a:endParaRPr>
          </a:p>
        </p:txBody>
      </p:sp>
      <p:sp>
        <p:nvSpPr>
          <p:cNvPr id="291" name="Google Shape;291;p13"/>
          <p:cNvSpPr txBox="1"/>
          <p:nvPr/>
        </p:nvSpPr>
        <p:spPr>
          <a:xfrm>
            <a:off x="324450" y="1526975"/>
            <a:ext cx="5368500" cy="397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La régression supervisée permet de </a:t>
            </a:r>
            <a:r>
              <a:rPr b="1" i="0" lang="fr-FR" sz="1400" u="none" cap="none" strike="noStrike">
                <a:solidFill>
                  <a:srgbClr val="000000"/>
                </a:solidFill>
                <a:latin typeface="Arial"/>
                <a:ea typeface="Arial"/>
                <a:cs typeface="Arial"/>
                <a:sym typeface="Arial"/>
              </a:rPr>
              <a:t>prédire efficacement les émissions de CO₂</a:t>
            </a:r>
            <a:r>
              <a:rPr b="0" i="0" lang="fr-FR" sz="1400" u="none" cap="none" strike="noStrike">
                <a:solidFill>
                  <a:srgbClr val="000000"/>
                </a:solidFill>
                <a:latin typeface="Arial"/>
                <a:ea typeface="Arial"/>
                <a:cs typeface="Arial"/>
                <a:sym typeface="Arial"/>
              </a:rPr>
              <a:t> des véhicules thermiques à partir de leurs caractéristiques techniques.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Les bons résultats s’expliquent par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la </a:t>
            </a:r>
            <a:r>
              <a:rPr b="1" i="0" lang="fr-FR" sz="1400" u="none" cap="none" strike="noStrike">
                <a:solidFill>
                  <a:srgbClr val="000000"/>
                </a:solidFill>
                <a:latin typeface="Arial"/>
                <a:ea typeface="Arial"/>
                <a:cs typeface="Arial"/>
                <a:sym typeface="Arial"/>
              </a:rPr>
              <a:t>qualité du preprocessing</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la </a:t>
            </a:r>
            <a:r>
              <a:rPr b="1" i="0" lang="fr-FR" sz="1400" u="none" cap="none" strike="noStrike">
                <a:solidFill>
                  <a:srgbClr val="000000"/>
                </a:solidFill>
                <a:latin typeface="Arial"/>
                <a:ea typeface="Arial"/>
                <a:cs typeface="Arial"/>
                <a:sym typeface="Arial"/>
              </a:rPr>
              <a:t>taille importante du dataset</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 </a:t>
            </a:r>
            <a:r>
              <a:rPr b="1" i="0" lang="fr-FR" sz="1400" u="none" cap="none" strike="noStrike">
                <a:solidFill>
                  <a:srgbClr val="000000"/>
                </a:solidFill>
                <a:latin typeface="Arial"/>
                <a:ea typeface="Arial"/>
                <a:cs typeface="Arial"/>
                <a:sym typeface="Arial"/>
              </a:rPr>
              <a:t>choix d’un modèle adapté</a:t>
            </a:r>
            <a:endParaRPr/>
          </a:p>
          <a:p>
            <a:pPr indent="-196850" lvl="1" marL="285750" marR="0" rtl="0" algn="l">
              <a:lnSpc>
                <a:spcPct val="100000"/>
              </a:lnSpc>
              <a:spcBef>
                <a:spcPts val="0"/>
              </a:spcBef>
              <a:spcAft>
                <a:spcPts val="0"/>
              </a:spcAft>
              <a:buClr>
                <a:srgbClr val="000000"/>
              </a:buClr>
              <a:buSzPts val="1400"/>
              <a:buFont typeface="Arial"/>
              <a:buNone/>
            </a:pPr>
            <a:r>
              <a:t/>
            </a:r>
            <a:endParaRPr/>
          </a:p>
          <a:p>
            <a:pPr indent="-196850" lvl="1" marL="285750" marR="0" rtl="0" algn="l">
              <a:lnSpc>
                <a:spcPct val="100000"/>
              </a:lnSpc>
              <a:spcBef>
                <a:spcPts val="0"/>
              </a:spcBef>
              <a:spcAft>
                <a:spcPts val="0"/>
              </a:spcAft>
              <a:buClr>
                <a:srgbClr val="000000"/>
              </a:buClr>
              <a:buSzPts val="1400"/>
              <a:buFont typeface="Arial"/>
              <a:buNone/>
            </a:pPr>
            <a:r>
              <a:t/>
            </a:r>
            <a:endParaRPr/>
          </a:p>
          <a:p>
            <a:pPr indent="0" lvl="0" marL="0" rtl="0" algn="l">
              <a:spcBef>
                <a:spcPts val="0"/>
              </a:spcBef>
              <a:spcAft>
                <a:spcPts val="0"/>
              </a:spcAft>
              <a:buClr>
                <a:schemeClr val="dk1"/>
              </a:buClr>
              <a:buFont typeface="Arial"/>
              <a:buNone/>
            </a:pPr>
            <a:r>
              <a:rPr b="1" lang="fr-FR">
                <a:solidFill>
                  <a:schemeClr val="dk1"/>
                </a:solidFill>
              </a:rPr>
              <a:t>Moyenne des émission de CO₂ du dataset = 110.51</a:t>
            </a:r>
            <a:endParaRPr b="1">
              <a:solidFill>
                <a:schemeClr val="dk1"/>
              </a:solidFill>
            </a:endParaRPr>
          </a:p>
          <a:p>
            <a:pPr indent="0" lvl="0" marL="0" rtl="0" algn="l">
              <a:spcBef>
                <a:spcPts val="0"/>
              </a:spcBef>
              <a:spcAft>
                <a:spcPts val="0"/>
              </a:spcAft>
              <a:buClr>
                <a:schemeClr val="dk1"/>
              </a:buClr>
              <a:buFont typeface="Arial"/>
              <a:buNone/>
            </a:pPr>
            <a:r>
              <a:t/>
            </a:r>
            <a:endParaRPr b="1">
              <a:solidFill>
                <a:schemeClr val="dk1"/>
              </a:solidFill>
            </a:endParaRPr>
          </a:p>
          <a:p>
            <a:pPr indent="0" lvl="0" marL="0" marR="0" rtl="0" algn="l">
              <a:lnSpc>
                <a:spcPct val="100000"/>
              </a:lnSpc>
              <a:spcBef>
                <a:spcPts val="0"/>
              </a:spcBef>
              <a:spcAft>
                <a:spcPts val="0"/>
              </a:spcAft>
              <a:buNone/>
            </a:pPr>
            <a:r>
              <a:rPr b="1" lang="fr-FR"/>
              <a:t>Intercept du modèle = 107.21, </a:t>
            </a:r>
            <a:r>
              <a:rPr lang="fr-FR">
                <a:solidFill>
                  <a:schemeClr val="dk1"/>
                </a:solidFill>
              </a:rPr>
              <a:t>correspond à la valeur moyenne des émissions de CO₂ prédites par le modèle pour un véhicule.</a:t>
            </a:r>
            <a:endParaRPr/>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b="1" lang="fr-FR"/>
              <a:t>L’intercept est proche de la moyenne des émissions observées, ce qui confirme la cohérence du modèle.</a:t>
            </a:r>
            <a:endParaRPr b="1"/>
          </a:p>
        </p:txBody>
      </p:sp>
      <p:sp>
        <p:nvSpPr>
          <p:cNvPr id="292" name="Google Shape;292;p13"/>
          <p:cNvSpPr txBox="1"/>
          <p:nvPr/>
        </p:nvSpPr>
        <p:spPr>
          <a:xfrm>
            <a:off x="5878632" y="1526973"/>
            <a:ext cx="61515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Le nuage de points montre une forte concordance entre les valeurs réelles et prédites, confirmant la capacité du modèle à capturer la relation entre les caractéristiques des véhicules et leurs émissions de CO₂.</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Le modèle a tendance à :</a:t>
            </a:r>
            <a:endParaRPr/>
          </a:p>
          <a:p>
            <a:pPr indent="-285750" lvl="1" marL="285750" marR="0" rtl="0" algn="l">
              <a:lnSpc>
                <a:spcPct val="100000"/>
              </a:lnSpc>
              <a:spcBef>
                <a:spcPts val="0"/>
              </a:spcBef>
              <a:spcAft>
                <a:spcPts val="0"/>
              </a:spcAft>
              <a:buClr>
                <a:srgbClr val="000000"/>
              </a:buClr>
              <a:buSzPts val="1400"/>
              <a:buFont typeface="Arial"/>
              <a:buChar char="•"/>
            </a:pPr>
            <a:r>
              <a:rPr b="1" i="0" lang="fr-FR" sz="1400" u="none" cap="none" strike="noStrike">
                <a:solidFill>
                  <a:srgbClr val="000000"/>
                </a:solidFill>
                <a:latin typeface="Arial"/>
                <a:ea typeface="Arial"/>
                <a:cs typeface="Arial"/>
                <a:sym typeface="Arial"/>
              </a:rPr>
              <a:t>lisser</a:t>
            </a:r>
            <a:r>
              <a:rPr b="0" i="0" lang="fr-FR" sz="1400" u="none" cap="none" strike="noStrike">
                <a:solidFill>
                  <a:srgbClr val="000000"/>
                </a:solidFill>
                <a:latin typeface="Arial"/>
                <a:ea typeface="Arial"/>
                <a:cs typeface="Arial"/>
                <a:sym typeface="Arial"/>
              </a:rPr>
              <a:t> les valeurs extrêmes</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sous-estimer légèrement les très fortes émissions</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surestimer certaines très faibles émissions</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Comportement classique d’un modèle linéaire.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13"/>
          <p:cNvSpPr txBox="1"/>
          <p:nvPr/>
        </p:nvSpPr>
        <p:spPr>
          <a:xfrm>
            <a:off x="0" y="6354816"/>
            <a:ext cx="12192000" cy="461700"/>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rgbClr val="A5A5A5"/>
                </a:solidFill>
                <a:latin typeface="Arial"/>
                <a:ea typeface="Arial"/>
                <a:cs typeface="Arial"/>
                <a:sym typeface="Arial"/>
              </a:rPr>
              <a:t> </a:t>
            </a:r>
            <a:r>
              <a:rPr b="1" i="0" lang="fr-FR" sz="1800" u="none" cap="none" strike="noStrike">
                <a:solidFill>
                  <a:srgbClr val="A5A5A5"/>
                </a:solidFill>
              </a:rPr>
              <a:t>|</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a:t>
            </a:r>
            <a:r>
              <a:rPr i="0" lang="fr-FR" sz="1800" u="none" cap="none" strike="noStrike">
                <a:solidFill>
                  <a:srgbClr val="A5A5A5"/>
                </a:solidFill>
              </a:rPr>
              <a:t> </a:t>
            </a:r>
            <a:r>
              <a:rPr b="1" i="0" lang="fr-FR" sz="1800" u="none" cap="none" strike="noStrike">
                <a:solidFill>
                  <a:srgbClr val="A5A5A5"/>
                </a:solidFill>
              </a:rPr>
              <a:t>|</a:t>
            </a:r>
            <a:r>
              <a:rPr i="0" lang="fr-FR" sz="1800" u="none" cap="none" strike="noStrike">
                <a:solidFill>
                  <a:srgbClr val="A5A5A5"/>
                </a:solidFill>
              </a:rPr>
              <a:t> Looker </a:t>
            </a:r>
            <a:r>
              <a:rPr b="1" i="0" lang="fr-FR" sz="1800" u="none" cap="none" strike="noStrike">
                <a:solidFill>
                  <a:srgbClr val="A5A5A5"/>
                </a:solidFill>
                <a:latin typeface="Arial"/>
                <a:ea typeface="Arial"/>
                <a:cs typeface="Arial"/>
                <a:sym typeface="Arial"/>
              </a:rPr>
              <a:t>| </a:t>
            </a:r>
            <a:r>
              <a:rPr lang="fr-FR" sz="1800">
                <a:solidFill>
                  <a:srgbClr val="A5A5A5"/>
                </a:solidFill>
              </a:rPr>
              <a:t>Conclusion </a:t>
            </a:r>
            <a:r>
              <a:rPr b="1" lang="fr-FR" sz="1800">
                <a:solidFill>
                  <a:srgbClr val="262626"/>
                </a:solidFill>
              </a:rPr>
              <a:t>|</a:t>
            </a:r>
            <a:r>
              <a:rPr b="1" i="0" lang="fr-FR" sz="1800" u="none" cap="none" strike="noStrike">
                <a:solidFill>
                  <a:srgbClr val="A5A5A5"/>
                </a:solidFill>
                <a:latin typeface="Arial"/>
                <a:ea typeface="Arial"/>
                <a:cs typeface="Arial"/>
                <a:sym typeface="Arial"/>
              </a:rPr>
              <a:t> </a:t>
            </a:r>
            <a:r>
              <a:rPr b="1" lang="fr-FR" sz="1800">
                <a:solidFill>
                  <a:srgbClr val="36733F"/>
                </a:solidFill>
              </a:rPr>
              <a:t>&gt; </a:t>
            </a:r>
            <a:r>
              <a:rPr b="1" i="0" lang="fr-FR" sz="1800" u="none" cap="none" strike="noStrike">
                <a:solidFill>
                  <a:schemeClr val="dk1"/>
                </a:solidFill>
              </a:rPr>
              <a:t>Machine Learning</a:t>
            </a:r>
            <a:endParaRPr b="0" i="0" sz="1800" u="none" cap="none" strike="noStrike">
              <a:solidFill>
                <a:srgbClr val="A5A5A5"/>
              </a:solidFill>
              <a:latin typeface="Arial"/>
              <a:ea typeface="Arial"/>
              <a:cs typeface="Arial"/>
              <a:sym typeface="Arial"/>
            </a:endParaRPr>
          </a:p>
        </p:txBody>
      </p:sp>
      <p:pic>
        <p:nvPicPr>
          <p:cNvPr id="294" name="Google Shape;294;p13" title="LR_pred_vs_real2.png"/>
          <p:cNvPicPr preferRelativeResize="0"/>
          <p:nvPr/>
        </p:nvPicPr>
        <p:blipFill>
          <a:blip r:embed="rId3">
            <a:alphaModFix/>
          </a:blip>
          <a:stretch>
            <a:fillRect/>
          </a:stretch>
        </p:blipFill>
        <p:spPr>
          <a:xfrm>
            <a:off x="6714775" y="3566750"/>
            <a:ext cx="3327399" cy="2614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298" name="Shape 298"/>
        <p:cNvGrpSpPr/>
        <p:nvPr/>
      </p:nvGrpSpPr>
      <p:grpSpPr>
        <a:xfrm>
          <a:off x="0" y="0"/>
          <a:ext cx="0" cy="0"/>
          <a:chOff x="0" y="0"/>
          <a:chExt cx="0" cy="0"/>
        </a:xfrm>
      </p:grpSpPr>
      <p:sp>
        <p:nvSpPr>
          <p:cNvPr id="299" name="Google Shape;299;p10"/>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8888"/>
              <a:buFont typeface="Arial"/>
              <a:buNone/>
            </a:pPr>
            <a:r>
              <a:rPr lang="fr-FR"/>
              <a:t>Modélisation Machine Learning – </a:t>
            </a:r>
            <a:br>
              <a:rPr lang="fr-FR"/>
            </a:br>
            <a:r>
              <a:rPr lang="fr-FR">
                <a:solidFill>
                  <a:schemeClr val="accent3"/>
                </a:solidFill>
              </a:rPr>
              <a:t>Méthodologie &amp; choix</a:t>
            </a:r>
            <a:endParaRPr>
              <a:solidFill>
                <a:schemeClr val="accent3"/>
              </a:solidFill>
            </a:endParaRPr>
          </a:p>
        </p:txBody>
      </p:sp>
      <p:sp>
        <p:nvSpPr>
          <p:cNvPr id="300" name="Google Shape;300;p10"/>
          <p:cNvSpPr txBox="1"/>
          <p:nvPr/>
        </p:nvSpPr>
        <p:spPr>
          <a:xfrm>
            <a:off x="590548" y="1622047"/>
            <a:ext cx="5500675"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Problématique : </a:t>
            </a:r>
            <a:r>
              <a:rPr b="0" i="0" lang="fr-FR" sz="1400" u="none" cap="none" strike="noStrike">
                <a:solidFill>
                  <a:srgbClr val="000000"/>
                </a:solidFill>
                <a:latin typeface="Arial"/>
                <a:ea typeface="Arial"/>
                <a:cs typeface="Arial"/>
                <a:sym typeface="Arial"/>
              </a:rPr>
              <a:t>Prédire les </a:t>
            </a:r>
            <a:r>
              <a:rPr b="1" i="0" lang="fr-FR" sz="1400" u="none" cap="none" strike="noStrike">
                <a:solidFill>
                  <a:srgbClr val="000000"/>
                </a:solidFill>
                <a:latin typeface="Arial"/>
                <a:ea typeface="Arial"/>
                <a:cs typeface="Arial"/>
                <a:sym typeface="Arial"/>
              </a:rPr>
              <a:t>émissions de CO₂ (WLTP)</a:t>
            </a:r>
            <a:r>
              <a:rPr b="0" i="0" lang="fr-FR" sz="1400" u="none" cap="none" strike="noStrike">
                <a:solidFill>
                  <a:srgbClr val="000000"/>
                </a:solidFill>
                <a:latin typeface="Arial"/>
                <a:ea typeface="Arial"/>
                <a:cs typeface="Arial"/>
                <a:sym typeface="Arial"/>
              </a:rPr>
              <a:t> à partir des caractéristiques techniques des véhicules</a:t>
            </a:r>
            <a:endParaRPr b="0" i="0" sz="1400" u="none" cap="none" strike="noStrike">
              <a:solidFill>
                <a:srgbClr val="000000"/>
              </a:solidFill>
              <a:latin typeface="Arial"/>
              <a:ea typeface="Arial"/>
              <a:cs typeface="Arial"/>
              <a:sym typeface="Arial"/>
            </a:endParaRPr>
          </a:p>
        </p:txBody>
      </p:sp>
      <p:sp>
        <p:nvSpPr>
          <p:cNvPr id="301" name="Google Shape;301;p10"/>
          <p:cNvSpPr txBox="1"/>
          <p:nvPr/>
        </p:nvSpPr>
        <p:spPr>
          <a:xfrm>
            <a:off x="0" y="6354816"/>
            <a:ext cx="12192000" cy="503184"/>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a:t>
            </a:r>
            <a:r>
              <a:rPr b="1" i="0" lang="fr-FR" sz="1800" u="none" cap="none" strike="noStrike">
                <a:solidFill>
                  <a:srgbClr val="BFBFBF"/>
                </a:solidFill>
                <a:latin typeface="Arial"/>
                <a:ea typeface="Arial"/>
                <a:cs typeface="Arial"/>
                <a:sym typeface="Arial"/>
              </a:rPr>
              <a:t>|</a:t>
            </a:r>
            <a:r>
              <a:rPr b="1" i="0" lang="fr-FR" sz="1800" u="none" cap="none" strike="noStrike">
                <a:solidFill>
                  <a:schemeClr val="dk1"/>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 </a:t>
            </a:r>
            <a:r>
              <a:rPr b="0" i="0" lang="fr-FR" sz="1800" u="none" cap="none" strike="noStrike">
                <a:solidFill>
                  <a:srgbClr val="AEAEAE"/>
                </a:solidFill>
                <a:latin typeface="Arial"/>
                <a:ea typeface="Arial"/>
                <a:cs typeface="Arial"/>
                <a:sym typeface="Arial"/>
              </a:rPr>
              <a:t>| Looker </a:t>
            </a:r>
            <a:r>
              <a:rPr b="1" i="0" lang="fr-FR" sz="1800" u="none" cap="none" strike="noStrike">
                <a:solidFill>
                  <a:schemeClr val="dk1"/>
                </a:solidFill>
                <a:latin typeface="Arial"/>
                <a:ea typeface="Arial"/>
                <a:cs typeface="Arial"/>
                <a:sym typeface="Arial"/>
              </a:rPr>
              <a:t>|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Machine Learning | </a:t>
            </a:r>
            <a:r>
              <a:rPr b="0" i="0" lang="fr-FR" sz="1800" u="none" cap="none" strike="noStrike">
                <a:solidFill>
                  <a:srgbClr val="A5A5A5"/>
                </a:solidFill>
                <a:latin typeface="Arial"/>
                <a:ea typeface="Arial"/>
                <a:cs typeface="Arial"/>
                <a:sym typeface="Arial"/>
              </a:rPr>
              <a:t>Conclusion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Annexes/Codes</a:t>
            </a:r>
            <a:endParaRPr b="0" i="0" sz="1800" u="none" cap="none" strike="noStrike">
              <a:solidFill>
                <a:srgbClr val="A5A5A5"/>
              </a:solidFill>
              <a:latin typeface="Arial"/>
              <a:ea typeface="Arial"/>
              <a:cs typeface="Arial"/>
              <a:sym typeface="Arial"/>
            </a:endParaRPr>
          </a:p>
        </p:txBody>
      </p:sp>
      <p:sp>
        <p:nvSpPr>
          <p:cNvPr id="302" name="Google Shape;302;p10"/>
          <p:cNvSpPr txBox="1"/>
          <p:nvPr/>
        </p:nvSpPr>
        <p:spPr>
          <a:xfrm>
            <a:off x="590548" y="2185982"/>
            <a:ext cx="606742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Régression supervisée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Véhicules </a:t>
            </a:r>
            <a:r>
              <a:rPr b="1" i="0" lang="fr-FR" sz="1400" u="none" cap="none" strike="noStrike">
                <a:solidFill>
                  <a:srgbClr val="000000"/>
                </a:solidFill>
                <a:latin typeface="Arial"/>
                <a:ea typeface="Arial"/>
                <a:cs typeface="Arial"/>
                <a:sym typeface="Arial"/>
              </a:rPr>
              <a:t>électriques exclus</a:t>
            </a:r>
            <a:r>
              <a:rPr b="0" i="0" lang="fr-FR" sz="1400" u="none" cap="none" strike="noStrike">
                <a:solidFill>
                  <a:srgbClr val="000000"/>
                </a:solidFill>
                <a:latin typeface="Arial"/>
                <a:ea typeface="Arial"/>
                <a:cs typeface="Arial"/>
                <a:sym typeface="Arial"/>
              </a:rPr>
              <a:t> pour éviter un biais lié aux émissions nulles.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rainstorming de groupe contour" id="303" name="Google Shape;303;p10"/>
          <p:cNvPicPr preferRelativeResize="0"/>
          <p:nvPr/>
        </p:nvPicPr>
        <p:blipFill rotWithShape="1">
          <a:blip r:embed="rId3">
            <a:alphaModFix/>
          </a:blip>
          <a:srcRect b="0" l="0" r="0" t="0"/>
          <a:stretch/>
        </p:blipFill>
        <p:spPr>
          <a:xfrm>
            <a:off x="1" y="1622047"/>
            <a:ext cx="635446" cy="635446"/>
          </a:xfrm>
          <a:prstGeom prst="rect">
            <a:avLst/>
          </a:prstGeom>
          <a:noFill/>
          <a:ln>
            <a:noFill/>
          </a:ln>
        </p:spPr>
      </p:pic>
      <p:sp>
        <p:nvSpPr>
          <p:cNvPr id="304" name="Google Shape;304;p10"/>
          <p:cNvSpPr txBox="1"/>
          <p:nvPr/>
        </p:nvSpPr>
        <p:spPr>
          <a:xfrm>
            <a:off x="590548" y="2760370"/>
            <a:ext cx="4479131" cy="18158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Variables explicatives principales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poids (WLTP)</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puissance (kW)</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consommation de carburant</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type de carburant</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constructeur</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Pays</a:t>
            </a:r>
            <a:endParaRPr b="0" i="0" sz="1400" u="none" cap="none" strike="noStrike">
              <a:solidFill>
                <a:srgbClr val="000000"/>
              </a:solidFill>
              <a:latin typeface="Arial"/>
              <a:ea typeface="Arial"/>
              <a:cs typeface="Arial"/>
              <a:sym typeface="Arial"/>
            </a:endParaRPr>
          </a:p>
        </p:txBody>
      </p:sp>
      <p:sp>
        <p:nvSpPr>
          <p:cNvPr descr="Analyse exploratoire&#10;Analyse des corrélations entre variables numériques&#10;Relation très forte entre consommation et émissions de CO₂&#10;Effets plus indirects du poids et de la puissance&#10;Corrélations contre-intuitives expliquées par la coexistence de technologies thermiques, hybrides et électrifiées&#10;Justification du recours à un modèle multivarié&#10;&#10;" id="305" name="Google Shape;305;p10"/>
          <p:cNvSpPr txBox="1"/>
          <p:nvPr/>
        </p:nvSpPr>
        <p:spPr>
          <a:xfrm>
            <a:off x="539530" y="4667456"/>
            <a:ext cx="5488781"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Analyse exploratoire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Analyse des </a:t>
            </a:r>
            <a:r>
              <a:rPr b="1" i="0" lang="fr-FR" sz="1400" u="none" cap="none" strike="noStrike">
                <a:solidFill>
                  <a:srgbClr val="000000"/>
                </a:solidFill>
                <a:latin typeface="Arial"/>
                <a:ea typeface="Arial"/>
                <a:cs typeface="Arial"/>
                <a:sym typeface="Arial"/>
              </a:rPr>
              <a:t>corrélations entre variables numériques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Relation </a:t>
            </a:r>
            <a:r>
              <a:rPr b="1" i="0" lang="fr-FR" sz="1400" u="none" cap="none" strike="noStrike">
                <a:solidFill>
                  <a:srgbClr val="000000"/>
                </a:solidFill>
                <a:latin typeface="Arial"/>
                <a:ea typeface="Arial"/>
                <a:cs typeface="Arial"/>
                <a:sym typeface="Arial"/>
              </a:rPr>
              <a:t>très forte entre consommation et émissions de CO₂</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Effets plus indirects du poids et de la puissance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Corrélations contre-intuitives expliquées par la </a:t>
            </a:r>
            <a:r>
              <a:rPr b="1" i="0" lang="fr-FR" sz="1400" u="none" cap="none" strike="noStrike">
                <a:solidFill>
                  <a:srgbClr val="000000"/>
                </a:solidFill>
                <a:latin typeface="Arial"/>
                <a:ea typeface="Arial"/>
                <a:cs typeface="Arial"/>
                <a:sym typeface="Arial"/>
              </a:rPr>
              <a:t>coexistence de technologies thermiques, hybrides et électrifiées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Justification du recours à un </a:t>
            </a:r>
            <a:r>
              <a:rPr b="1" i="0" lang="fr-FR" sz="1400" u="none" cap="none" strike="noStrike">
                <a:solidFill>
                  <a:srgbClr val="000000"/>
                </a:solidFill>
                <a:latin typeface="Arial"/>
                <a:ea typeface="Arial"/>
                <a:cs typeface="Arial"/>
                <a:sym typeface="Arial"/>
              </a:rPr>
              <a:t>modèle multivarié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Une image contenant texte, capture d’écran, ligne, Tracé&#10;&#10;Le contenu généré par l’IA peut être incorrect." id="306" name="Google Shape;306;p10"/>
          <p:cNvPicPr preferRelativeResize="0"/>
          <p:nvPr/>
        </p:nvPicPr>
        <p:blipFill rotWithShape="1">
          <a:blip r:embed="rId4">
            <a:alphaModFix/>
          </a:blip>
          <a:srcRect b="0" l="0" r="0" t="0"/>
          <a:stretch/>
        </p:blipFill>
        <p:spPr>
          <a:xfrm>
            <a:off x="6618858" y="1786305"/>
            <a:ext cx="5488781" cy="44127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10" name="Shape 310"/>
        <p:cNvGrpSpPr/>
        <p:nvPr/>
      </p:nvGrpSpPr>
      <p:grpSpPr>
        <a:xfrm>
          <a:off x="0" y="0"/>
          <a:ext cx="0" cy="0"/>
          <a:chOff x="0" y="0"/>
          <a:chExt cx="0" cy="0"/>
        </a:xfrm>
      </p:grpSpPr>
      <p:sp>
        <p:nvSpPr>
          <p:cNvPr id="311" name="Google Shape;311;p27"/>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Font typeface="Arial"/>
              <a:buNone/>
            </a:pPr>
            <a:r>
              <a:rPr lang="fr-FR"/>
              <a:t>Modélisation Machine Learning – </a:t>
            </a:r>
            <a:br>
              <a:rPr lang="fr-FR"/>
            </a:br>
            <a:r>
              <a:rPr lang="fr-FR" sz="3200">
                <a:solidFill>
                  <a:schemeClr val="accent3"/>
                </a:solidFill>
              </a:rPr>
              <a:t>Prétraitement des données et choix du modèle</a:t>
            </a:r>
            <a:endParaRPr sz="3900">
              <a:solidFill>
                <a:schemeClr val="accent3"/>
              </a:solidFill>
            </a:endParaRPr>
          </a:p>
        </p:txBody>
      </p:sp>
      <p:sp>
        <p:nvSpPr>
          <p:cNvPr id="312" name="Google Shape;312;p27"/>
          <p:cNvSpPr txBox="1"/>
          <p:nvPr/>
        </p:nvSpPr>
        <p:spPr>
          <a:xfrm>
            <a:off x="0" y="6354816"/>
            <a:ext cx="12192000" cy="503184"/>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a:t>
            </a:r>
            <a:r>
              <a:rPr b="1" i="0" lang="fr-FR" sz="1800" u="none" cap="none" strike="noStrike">
                <a:solidFill>
                  <a:srgbClr val="BFBFBF"/>
                </a:solidFill>
                <a:latin typeface="Arial"/>
                <a:ea typeface="Arial"/>
                <a:cs typeface="Arial"/>
                <a:sym typeface="Arial"/>
              </a:rPr>
              <a:t>|</a:t>
            </a:r>
            <a:r>
              <a:rPr b="1" i="0" lang="fr-FR" sz="1800" u="none" cap="none" strike="noStrike">
                <a:solidFill>
                  <a:schemeClr val="dk1"/>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 </a:t>
            </a:r>
            <a:r>
              <a:rPr b="0" i="0" lang="fr-FR" sz="1800" u="none" cap="none" strike="noStrike">
                <a:solidFill>
                  <a:srgbClr val="AEAEAE"/>
                </a:solidFill>
                <a:latin typeface="Arial"/>
                <a:ea typeface="Arial"/>
                <a:cs typeface="Arial"/>
                <a:sym typeface="Arial"/>
              </a:rPr>
              <a:t>| Looker </a:t>
            </a:r>
            <a:r>
              <a:rPr b="1" i="0" lang="fr-FR" sz="1800" u="none" cap="none" strike="noStrike">
                <a:solidFill>
                  <a:schemeClr val="dk1"/>
                </a:solidFill>
                <a:latin typeface="Arial"/>
                <a:ea typeface="Arial"/>
                <a:cs typeface="Arial"/>
                <a:sym typeface="Arial"/>
              </a:rPr>
              <a:t>|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Machine Learning | </a:t>
            </a:r>
            <a:r>
              <a:rPr b="0" i="0" lang="fr-FR" sz="1800" u="none" cap="none" strike="noStrike">
                <a:solidFill>
                  <a:srgbClr val="A5A5A5"/>
                </a:solidFill>
                <a:latin typeface="Arial"/>
                <a:ea typeface="Arial"/>
                <a:cs typeface="Arial"/>
                <a:sym typeface="Arial"/>
              </a:rPr>
              <a:t>Conclusion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Annexes/Codes</a:t>
            </a:r>
            <a:endParaRPr b="0" i="0" sz="1800" u="none" cap="none" strike="noStrike">
              <a:solidFill>
                <a:srgbClr val="A5A5A5"/>
              </a:solidFill>
              <a:latin typeface="Arial"/>
              <a:ea typeface="Arial"/>
              <a:cs typeface="Arial"/>
              <a:sym typeface="Arial"/>
            </a:endParaRPr>
          </a:p>
        </p:txBody>
      </p:sp>
      <p:sp>
        <p:nvSpPr>
          <p:cNvPr id="313" name="Google Shape;313;p27"/>
          <p:cNvSpPr txBox="1"/>
          <p:nvPr/>
        </p:nvSpPr>
        <p:spPr>
          <a:xfrm>
            <a:off x="687433" y="2141085"/>
            <a:ext cx="4479131"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Séparation automatique à l’aide de make_column_selector:</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variables numériques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variables catégorielles</a:t>
            </a:r>
            <a:endParaRPr b="0" i="0" sz="1400" u="none" cap="none" strike="noStrike">
              <a:solidFill>
                <a:srgbClr val="000000"/>
              </a:solidFill>
              <a:latin typeface="Arial"/>
              <a:ea typeface="Arial"/>
              <a:cs typeface="Arial"/>
              <a:sym typeface="Arial"/>
            </a:endParaRPr>
          </a:p>
          <a:p>
            <a:pPr indent="-196850" lvl="1"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Numériques</a:t>
            </a: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imputation par la médiane : SimpleImputer()</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standardisation des échelles : StandardScaler()</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Catégorielles</a:t>
            </a: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Imputation par « unknown » si des valeurs manquantes sont présentes.</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Encodage One-Hot-Encoder avec gestion des catégories inconnues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Utilisation d’un </a:t>
            </a:r>
            <a:r>
              <a:rPr b="1" i="0" lang="fr-FR" sz="1400" u="none" cap="none" strike="noStrike">
                <a:solidFill>
                  <a:srgbClr val="000000"/>
                </a:solidFill>
                <a:latin typeface="Arial"/>
                <a:ea typeface="Arial"/>
                <a:cs typeface="Arial"/>
                <a:sym typeface="Arial"/>
              </a:rPr>
              <a:t>Pipeline + ColumnTransformer</a:t>
            </a:r>
            <a:r>
              <a:rPr b="0" i="0" lang="fr-FR" sz="1400" u="none" cap="none" strike="noStrike">
                <a:solidFill>
                  <a:srgbClr val="000000"/>
                </a:solidFill>
                <a:latin typeface="Arial"/>
                <a:ea typeface="Arial"/>
                <a:cs typeface="Arial"/>
                <a:sym typeface="Arial"/>
              </a:rPr>
              <a:t> pour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éviter la fuite de données</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garantir la reproductibilité</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automatiser le preprocessing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nalyse exploratoire&#10;Analyse des corrélations entre variables numériques&#10;Relation très forte entre consommation et émissions de CO₂&#10;Effets plus indirects du poids et de la puissance&#10;Corrélations contre-intuitives expliquées par la coexistence de technologies thermiques, hybrides et électrifiées&#10;Justification du recours à un modèle multivarié&#10;&#10;" id="314" name="Google Shape;314;p27"/>
          <p:cNvSpPr txBox="1"/>
          <p:nvPr/>
        </p:nvSpPr>
        <p:spPr>
          <a:xfrm>
            <a:off x="6698469" y="1701943"/>
            <a:ext cx="548878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Choix du modèle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Régression linéaire</a:t>
            </a:r>
            <a:r>
              <a:rPr b="0" i="0" lang="fr-FR" sz="1400" u="none" cap="none" strike="noStrike">
                <a:solidFill>
                  <a:srgbClr val="000000"/>
                </a:solidFill>
                <a:latin typeface="Arial"/>
                <a:ea typeface="Arial"/>
                <a:cs typeface="Arial"/>
                <a:sym typeface="Arial"/>
              </a:rPr>
              <a:t> choisie comme modèle de référence : LinearRegression()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simple et interprétable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robuste sur grands volumes</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adaptée à une analyse décisionnelle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Permet d’analyser l’impact des variables sur le CO₂</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7"/>
          <p:cNvSpPr txBox="1"/>
          <p:nvPr/>
        </p:nvSpPr>
        <p:spPr>
          <a:xfrm>
            <a:off x="687433" y="1701943"/>
            <a:ext cx="3131355"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Bibliothèque Sci-kit Learn utilisée.</a:t>
            </a:r>
            <a:endParaRPr b="0" i="0" sz="1400" u="none" cap="none" strike="noStrike">
              <a:solidFill>
                <a:srgbClr val="000000"/>
              </a:solidFill>
              <a:latin typeface="Arial"/>
              <a:ea typeface="Arial"/>
              <a:cs typeface="Arial"/>
              <a:sym typeface="Arial"/>
            </a:endParaRPr>
          </a:p>
        </p:txBody>
      </p:sp>
      <p:pic>
        <p:nvPicPr>
          <p:cNvPr descr="scikit-learn - NumFOCUS" id="316" name="Google Shape;316;p27"/>
          <p:cNvPicPr preferRelativeResize="0"/>
          <p:nvPr/>
        </p:nvPicPr>
        <p:blipFill rotWithShape="1">
          <a:blip r:embed="rId3">
            <a:alphaModFix/>
          </a:blip>
          <a:srcRect b="0" l="0" r="0" t="0"/>
          <a:stretch/>
        </p:blipFill>
        <p:spPr>
          <a:xfrm>
            <a:off x="4750" y="1514470"/>
            <a:ext cx="682683" cy="682683"/>
          </a:xfrm>
          <a:prstGeom prst="rect">
            <a:avLst/>
          </a:prstGeom>
          <a:noFill/>
          <a:ln>
            <a:noFill/>
          </a:ln>
        </p:spPr>
      </p:pic>
      <p:pic>
        <p:nvPicPr>
          <p:cNvPr descr="Une image contenant texte, capture d’écran, Police, logiciel&#10;&#10;Le contenu généré par l’IA peut être incorrect." id="317" name="Google Shape;317;p27"/>
          <p:cNvPicPr preferRelativeResize="0"/>
          <p:nvPr/>
        </p:nvPicPr>
        <p:blipFill rotWithShape="1">
          <a:blip r:embed="rId4">
            <a:alphaModFix/>
          </a:blip>
          <a:srcRect b="0" l="0" r="0" t="0"/>
          <a:stretch/>
        </p:blipFill>
        <p:spPr>
          <a:xfrm>
            <a:off x="6771000" y="4198069"/>
            <a:ext cx="5343718" cy="19073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21" name="Shape 321"/>
        <p:cNvGrpSpPr/>
        <p:nvPr/>
      </p:nvGrpSpPr>
      <p:grpSpPr>
        <a:xfrm>
          <a:off x="0" y="0"/>
          <a:ext cx="0" cy="0"/>
          <a:chOff x="0" y="0"/>
          <a:chExt cx="0" cy="0"/>
        </a:xfrm>
      </p:grpSpPr>
      <p:sp>
        <p:nvSpPr>
          <p:cNvPr id="322" name="Google Shape;322;p28"/>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Font typeface="Arial"/>
              <a:buNone/>
            </a:pPr>
            <a:r>
              <a:rPr lang="fr-FR"/>
              <a:t>Modélisation Machine Learning – </a:t>
            </a:r>
            <a:br>
              <a:rPr lang="fr-FR"/>
            </a:br>
            <a:r>
              <a:rPr lang="fr-FR" sz="3200">
                <a:solidFill>
                  <a:schemeClr val="accent3"/>
                </a:solidFill>
              </a:rPr>
              <a:t>Evaluation du Modèle</a:t>
            </a:r>
            <a:endParaRPr sz="3900">
              <a:solidFill>
                <a:schemeClr val="accent3"/>
              </a:solidFill>
            </a:endParaRPr>
          </a:p>
        </p:txBody>
      </p:sp>
      <p:sp>
        <p:nvSpPr>
          <p:cNvPr id="323" name="Google Shape;323;p28"/>
          <p:cNvSpPr txBox="1"/>
          <p:nvPr/>
        </p:nvSpPr>
        <p:spPr>
          <a:xfrm>
            <a:off x="0" y="6354816"/>
            <a:ext cx="12192000" cy="503184"/>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a:t>
            </a:r>
            <a:r>
              <a:rPr b="1" i="0" lang="fr-FR" sz="1800" u="none" cap="none" strike="noStrike">
                <a:solidFill>
                  <a:srgbClr val="BFBFBF"/>
                </a:solidFill>
                <a:latin typeface="Arial"/>
                <a:ea typeface="Arial"/>
                <a:cs typeface="Arial"/>
                <a:sym typeface="Arial"/>
              </a:rPr>
              <a:t>|</a:t>
            </a:r>
            <a:r>
              <a:rPr b="1" i="0" lang="fr-FR" sz="1800" u="none" cap="none" strike="noStrike">
                <a:solidFill>
                  <a:schemeClr val="dk1"/>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 </a:t>
            </a:r>
            <a:r>
              <a:rPr b="0" i="0" lang="fr-FR" sz="1800" u="none" cap="none" strike="noStrike">
                <a:solidFill>
                  <a:srgbClr val="AEAEAE"/>
                </a:solidFill>
                <a:latin typeface="Arial"/>
                <a:ea typeface="Arial"/>
                <a:cs typeface="Arial"/>
                <a:sym typeface="Arial"/>
              </a:rPr>
              <a:t>| Looker </a:t>
            </a:r>
            <a:r>
              <a:rPr b="1" i="0" lang="fr-FR" sz="1800" u="none" cap="none" strike="noStrike">
                <a:solidFill>
                  <a:schemeClr val="dk1"/>
                </a:solidFill>
                <a:latin typeface="Arial"/>
                <a:ea typeface="Arial"/>
                <a:cs typeface="Arial"/>
                <a:sym typeface="Arial"/>
              </a:rPr>
              <a:t>|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Machine Learning | </a:t>
            </a:r>
            <a:r>
              <a:rPr b="0" i="0" lang="fr-FR" sz="1800" u="none" cap="none" strike="noStrike">
                <a:solidFill>
                  <a:srgbClr val="A5A5A5"/>
                </a:solidFill>
                <a:latin typeface="Arial"/>
                <a:ea typeface="Arial"/>
                <a:cs typeface="Arial"/>
                <a:sym typeface="Arial"/>
              </a:rPr>
              <a:t>Conclusion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Annexes/Codes</a:t>
            </a:r>
            <a:endParaRPr b="0" i="0" sz="1800" u="none" cap="none" strike="noStrike">
              <a:solidFill>
                <a:srgbClr val="A5A5A5"/>
              </a:solidFill>
              <a:latin typeface="Arial"/>
              <a:ea typeface="Arial"/>
              <a:cs typeface="Arial"/>
              <a:sym typeface="Arial"/>
            </a:endParaRPr>
          </a:p>
        </p:txBody>
      </p:sp>
      <p:sp>
        <p:nvSpPr>
          <p:cNvPr id="324" name="Google Shape;324;p28"/>
          <p:cNvSpPr txBox="1"/>
          <p:nvPr/>
        </p:nvSpPr>
        <p:spPr>
          <a:xfrm>
            <a:off x="687433" y="2141085"/>
            <a:ext cx="4479131"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Validation croisée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entraîne et évalue le modèle plusieurs fois sur des partitions différentes des données afin d’obtenir une estimation robuste de ses performances.</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K-Fold (k = 10)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découpe le jeu de données en </a:t>
            </a:r>
            <a:r>
              <a:rPr b="0" i="1" lang="fr-FR" sz="1400" u="none" cap="none" strike="noStrike">
                <a:solidFill>
                  <a:srgbClr val="000000"/>
                </a:solidFill>
                <a:latin typeface="Arial"/>
                <a:ea typeface="Arial"/>
                <a:cs typeface="Arial"/>
                <a:sym typeface="Arial"/>
              </a:rPr>
              <a:t>k</a:t>
            </a:r>
            <a:r>
              <a:rPr b="0" i="0" lang="fr-FR" sz="1400" u="none" cap="none" strike="noStrike">
                <a:solidFill>
                  <a:srgbClr val="000000"/>
                </a:solidFill>
                <a:latin typeface="Arial"/>
                <a:ea typeface="Arial"/>
                <a:cs typeface="Arial"/>
                <a:sym typeface="Arial"/>
              </a:rPr>
              <a:t> sous-ensembles, utilisés alternativement pour l’entraînement et la validation du modèle.</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Pertinence de la combinaison KFold + cross_validate</a:t>
            </a: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L’utilisation conjointe de KFold et de cross_validate permet de réduire la dépendance à un découpage unique des données, d’exploiter l’ensemble du jeu de données pour l’évaluation et d’obtenir des performances moyennes plus représentatives de la capacité réelle de généralisation du modèle.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nalyse exploratoire&#10;Analyse des corrélations entre variables numériques&#10;Relation très forte entre consommation et émissions de CO₂&#10;Effets plus indirects du poids et de la puissance&#10;Corrélations contre-intuitives expliquées par la coexistence de technologies thermiques, hybrides et électrifiées&#10;Justification du recours à un modèle multivarié&#10;&#10;" id="325" name="Google Shape;325;p28"/>
          <p:cNvSpPr txBox="1"/>
          <p:nvPr/>
        </p:nvSpPr>
        <p:spPr>
          <a:xfrm>
            <a:off x="6619887" y="2141085"/>
            <a:ext cx="5488781"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Métriques</a:t>
            </a: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R²</a:t>
            </a:r>
            <a:r>
              <a:rPr b="0" i="0" lang="fr-FR" sz="1400" u="none" cap="none" strike="noStrike">
                <a:solidFill>
                  <a:srgbClr val="000000"/>
                </a:solidFill>
                <a:latin typeface="Arial"/>
                <a:ea typeface="Arial"/>
                <a:cs typeface="Arial"/>
                <a:sym typeface="Arial"/>
              </a:rPr>
              <a:t> pour la capacité explicative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 R²  permets de vérifier si le modèle parvient à capter les relations entre les variables explicatives et la variable cible. Plus la valeur est élevée plus le modèle traduit une meilleure capacité de prédiction.</a:t>
            </a:r>
            <a:endParaRPr b="0" i="0" sz="1400" u="none" cap="none" strike="noStrike">
              <a:solidFill>
                <a:srgbClr val="000000"/>
              </a:solidFill>
              <a:latin typeface="Arial"/>
              <a:ea typeface="Arial"/>
              <a:cs typeface="Arial"/>
              <a:sym typeface="Arial"/>
            </a:endParaRPr>
          </a:p>
          <a:p>
            <a:pPr indent="-196850" lvl="1"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MSE</a:t>
            </a:r>
            <a:r>
              <a:rPr b="0" i="0" lang="fr-FR" sz="1400" u="none" cap="none" strike="noStrike">
                <a:solidFill>
                  <a:srgbClr val="000000"/>
                </a:solidFill>
                <a:latin typeface="Arial"/>
                <a:ea typeface="Arial"/>
                <a:cs typeface="Arial"/>
                <a:sym typeface="Arial"/>
              </a:rPr>
              <a:t> (Mean Square Error) pour l’erreur de prédiction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Plus la MSE est faible, plus les prédictions du modèle sont proches des valeurs réelles, ce qui indique une meilleure précision des prédictions</a:t>
            </a:r>
            <a:endParaRPr b="0" i="0" sz="1400" u="none" cap="none" strike="noStrike">
              <a:solidFill>
                <a:srgbClr val="000000"/>
              </a:solidFill>
              <a:latin typeface="Arial"/>
              <a:ea typeface="Arial"/>
              <a:cs typeface="Arial"/>
              <a:sym typeface="Arial"/>
            </a:endParaRPr>
          </a:p>
        </p:txBody>
      </p:sp>
      <p:sp>
        <p:nvSpPr>
          <p:cNvPr id="326" name="Google Shape;326;p28"/>
          <p:cNvSpPr txBox="1"/>
          <p:nvPr/>
        </p:nvSpPr>
        <p:spPr>
          <a:xfrm>
            <a:off x="687433" y="1701943"/>
            <a:ext cx="3131355"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Bibliothèque Sci-kit Learn utilisée.</a:t>
            </a:r>
            <a:endParaRPr b="0" i="0" sz="1400" u="none" cap="none" strike="noStrike">
              <a:solidFill>
                <a:srgbClr val="000000"/>
              </a:solidFill>
              <a:latin typeface="Arial"/>
              <a:ea typeface="Arial"/>
              <a:cs typeface="Arial"/>
              <a:sym typeface="Arial"/>
            </a:endParaRPr>
          </a:p>
        </p:txBody>
      </p:sp>
      <p:pic>
        <p:nvPicPr>
          <p:cNvPr descr="scikit-learn - NumFOCUS" id="327" name="Google Shape;327;p28"/>
          <p:cNvPicPr preferRelativeResize="0"/>
          <p:nvPr/>
        </p:nvPicPr>
        <p:blipFill rotWithShape="1">
          <a:blip r:embed="rId3">
            <a:alphaModFix/>
          </a:blip>
          <a:srcRect b="0" l="0" r="0" t="0"/>
          <a:stretch/>
        </p:blipFill>
        <p:spPr>
          <a:xfrm>
            <a:off x="4750" y="1514470"/>
            <a:ext cx="682683" cy="68268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31" name="Shape 331"/>
        <p:cNvGrpSpPr/>
        <p:nvPr/>
      </p:nvGrpSpPr>
      <p:grpSpPr>
        <a:xfrm>
          <a:off x="0" y="0"/>
          <a:ext cx="0" cy="0"/>
          <a:chOff x="0" y="0"/>
          <a:chExt cx="0" cy="0"/>
        </a:xfrm>
      </p:grpSpPr>
      <p:sp>
        <p:nvSpPr>
          <p:cNvPr id="332" name="Google Shape;332;p29"/>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Font typeface="Arial"/>
              <a:buNone/>
            </a:pPr>
            <a:r>
              <a:rPr lang="fr-FR"/>
              <a:t>Modélisation Machine Learning – </a:t>
            </a:r>
            <a:br>
              <a:rPr lang="fr-FR"/>
            </a:br>
            <a:r>
              <a:rPr lang="fr-FR" sz="3600">
                <a:solidFill>
                  <a:schemeClr val="accent3"/>
                </a:solidFill>
              </a:rPr>
              <a:t>Résultats, interprétations &amp; Vérifications</a:t>
            </a:r>
            <a:endParaRPr sz="3900">
              <a:solidFill>
                <a:schemeClr val="accent3"/>
              </a:solidFill>
            </a:endParaRPr>
          </a:p>
        </p:txBody>
      </p:sp>
      <p:sp>
        <p:nvSpPr>
          <p:cNvPr id="333" name="Google Shape;333;p29"/>
          <p:cNvSpPr txBox="1"/>
          <p:nvPr/>
        </p:nvSpPr>
        <p:spPr>
          <a:xfrm>
            <a:off x="0" y="6354816"/>
            <a:ext cx="12192000" cy="503184"/>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a:t>
            </a:r>
            <a:r>
              <a:rPr b="1" i="0" lang="fr-FR" sz="1800" u="none" cap="none" strike="noStrike">
                <a:solidFill>
                  <a:srgbClr val="BFBFBF"/>
                </a:solidFill>
                <a:latin typeface="Arial"/>
                <a:ea typeface="Arial"/>
                <a:cs typeface="Arial"/>
                <a:sym typeface="Arial"/>
              </a:rPr>
              <a:t>|</a:t>
            </a:r>
            <a:r>
              <a:rPr b="1" i="0" lang="fr-FR" sz="1800" u="none" cap="none" strike="noStrike">
                <a:solidFill>
                  <a:schemeClr val="dk1"/>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 </a:t>
            </a:r>
            <a:r>
              <a:rPr b="0" i="0" lang="fr-FR" sz="1800" u="none" cap="none" strike="noStrike">
                <a:solidFill>
                  <a:srgbClr val="AEAEAE"/>
                </a:solidFill>
                <a:latin typeface="Arial"/>
                <a:ea typeface="Arial"/>
                <a:cs typeface="Arial"/>
                <a:sym typeface="Arial"/>
              </a:rPr>
              <a:t>| Looker </a:t>
            </a:r>
            <a:r>
              <a:rPr b="1" i="0" lang="fr-FR" sz="1800" u="none" cap="none" strike="noStrike">
                <a:solidFill>
                  <a:schemeClr val="dk1"/>
                </a:solidFill>
                <a:latin typeface="Arial"/>
                <a:ea typeface="Arial"/>
                <a:cs typeface="Arial"/>
                <a:sym typeface="Arial"/>
              </a:rPr>
              <a:t>|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Machine Learning | </a:t>
            </a:r>
            <a:r>
              <a:rPr b="0" i="0" lang="fr-FR" sz="1800" u="none" cap="none" strike="noStrike">
                <a:solidFill>
                  <a:srgbClr val="A5A5A5"/>
                </a:solidFill>
                <a:latin typeface="Arial"/>
                <a:ea typeface="Arial"/>
                <a:cs typeface="Arial"/>
                <a:sym typeface="Arial"/>
              </a:rPr>
              <a:t>Conclusion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Annexes/Codes</a:t>
            </a:r>
            <a:endParaRPr b="0" i="0" sz="1800" u="none" cap="none" strike="noStrike">
              <a:solidFill>
                <a:srgbClr val="A5A5A5"/>
              </a:solidFill>
              <a:latin typeface="Arial"/>
              <a:ea typeface="Arial"/>
              <a:cs typeface="Arial"/>
              <a:sym typeface="Arial"/>
            </a:endParaRPr>
          </a:p>
        </p:txBody>
      </p:sp>
      <p:sp>
        <p:nvSpPr>
          <p:cNvPr id="334" name="Google Shape;334;p29"/>
          <p:cNvSpPr txBox="1"/>
          <p:nvPr/>
        </p:nvSpPr>
        <p:spPr>
          <a:xfrm>
            <a:off x="687433" y="1637583"/>
            <a:ext cx="5256167" cy="48320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Résultats</a:t>
            </a: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R²</a:t>
            </a:r>
            <a:r>
              <a:rPr b="0" i="0" lang="fr-FR" sz="1400" u="none" cap="none" strike="noStrike">
                <a:solidFill>
                  <a:srgbClr val="000000"/>
                </a:solidFill>
                <a:latin typeface="Arial"/>
                <a:ea typeface="Arial"/>
                <a:cs typeface="Arial"/>
                <a:sym typeface="Arial"/>
              </a:rPr>
              <a:t> ≈ </a:t>
            </a:r>
            <a:r>
              <a:rPr b="1" i="0" lang="fr-FR" sz="1400" u="none" cap="none" strike="noStrike">
                <a:solidFill>
                  <a:srgbClr val="000000"/>
                </a:solidFill>
                <a:latin typeface="Arial"/>
                <a:ea typeface="Arial"/>
                <a:cs typeface="Arial"/>
                <a:sym typeface="Arial"/>
              </a:rPr>
              <a:t>0,92</a:t>
            </a:r>
            <a:r>
              <a:rPr b="0" i="0" lang="fr-FR" sz="1400" u="none" cap="none" strike="noStrike">
                <a:solidFill>
                  <a:srgbClr val="000000"/>
                </a:solidFill>
                <a:latin typeface="Arial"/>
                <a:ea typeface="Arial"/>
                <a:cs typeface="Arial"/>
                <a:sym typeface="Arial"/>
              </a:rPr>
              <a:t> en entraînement et test ce qui montre que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 modèle explique de manière stable et cohérente la relation entre les caractéristiques des véhicules et leurs émissions de CO₂, sans perte de performance sur des données non vues.</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un score élevé sur le train et le test, ainsi que la qualité des données permettent de vérifier l’absence de </a:t>
            </a:r>
            <a:r>
              <a:rPr b="1" i="0" lang="fr-FR" sz="1400" u="none" cap="none" strike="noStrike">
                <a:solidFill>
                  <a:srgbClr val="000000"/>
                </a:solidFill>
                <a:latin typeface="Arial"/>
                <a:ea typeface="Arial"/>
                <a:cs typeface="Arial"/>
                <a:sym typeface="Arial"/>
              </a:rPr>
              <a:t>surapprentissage</a:t>
            </a:r>
            <a:r>
              <a:rPr b="0" i="0" lang="fr-FR" sz="1400" u="none" cap="none" strike="noStrike">
                <a:solidFill>
                  <a:srgbClr val="000000"/>
                </a:solidFill>
                <a:latin typeface="Arial"/>
                <a:ea typeface="Arial"/>
                <a:cs typeface="Arial"/>
                <a:sym typeface="Arial"/>
              </a:rPr>
              <a:t> et donc une bonne généralisation du modèle</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MSE ≈ 74</a:t>
            </a:r>
            <a:r>
              <a:rPr b="0" i="0" lang="fr-FR" sz="1400" u="none" cap="none" strike="noStrike">
                <a:solidFill>
                  <a:srgbClr val="000000"/>
                </a:solidFill>
                <a:latin typeface="Arial"/>
                <a:ea typeface="Arial"/>
                <a:cs typeface="Arial"/>
                <a:sym typeface="Arial"/>
              </a:rPr>
              <a:t> sur le train et test montre que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Une </a:t>
            </a:r>
            <a:r>
              <a:rPr b="1" i="0" lang="fr-FR" sz="1400" u="none" cap="none" strike="noStrike">
                <a:solidFill>
                  <a:srgbClr val="000000"/>
                </a:solidFill>
                <a:latin typeface="Arial"/>
                <a:ea typeface="Arial"/>
                <a:cs typeface="Arial"/>
                <a:sym typeface="Arial"/>
              </a:rPr>
              <a:t>MSE ≈ 74</a:t>
            </a:r>
            <a:r>
              <a:rPr b="0" i="0" lang="fr-FR" sz="1400" u="none" cap="none" strike="noStrike">
                <a:solidFill>
                  <a:srgbClr val="000000"/>
                </a:solidFill>
                <a:latin typeface="Arial"/>
                <a:ea typeface="Arial"/>
                <a:cs typeface="Arial"/>
                <a:sym typeface="Arial"/>
              </a:rPr>
              <a:t> signifie que, </a:t>
            </a:r>
            <a:r>
              <a:rPr b="1" i="0" lang="fr-FR" sz="1400" u="none" cap="none" strike="noStrike">
                <a:solidFill>
                  <a:srgbClr val="000000"/>
                </a:solidFill>
                <a:latin typeface="Arial"/>
                <a:ea typeface="Arial"/>
                <a:cs typeface="Arial"/>
                <a:sym typeface="Arial"/>
              </a:rPr>
              <a:t>en moyenne</a:t>
            </a:r>
            <a:r>
              <a:rPr b="0" i="0" lang="fr-FR" sz="1400" u="none" cap="none" strike="noStrike">
                <a:solidFill>
                  <a:srgbClr val="000000"/>
                </a:solidFill>
                <a:latin typeface="Arial"/>
                <a:ea typeface="Arial"/>
                <a:cs typeface="Arial"/>
                <a:sym typeface="Arial"/>
              </a:rPr>
              <a:t>, le modèle commet une erreur de l’ordre de </a:t>
            </a:r>
            <a:r>
              <a:rPr b="1" i="0" lang="fr-FR" sz="1400" u="none" cap="none" strike="noStrike">
                <a:solidFill>
                  <a:srgbClr val="000000"/>
                </a:solidFill>
                <a:latin typeface="Arial"/>
                <a:ea typeface="Arial"/>
                <a:cs typeface="Arial"/>
                <a:sym typeface="Arial"/>
              </a:rPr>
              <a:t>√74 ≈ 8,6 g de CO₂ par km</a:t>
            </a:r>
            <a:r>
              <a:rPr b="0" i="0" lang="fr-F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Écart moyen entre valeurs prédites et réels stables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Précision des prédictions </a:t>
            </a:r>
            <a:r>
              <a:rPr b="1" i="0" lang="fr-FR" sz="1400" u="none" cap="none" strike="noStrike">
                <a:solidFill>
                  <a:srgbClr val="000000"/>
                </a:solidFill>
                <a:latin typeface="Arial"/>
                <a:ea typeface="Arial"/>
                <a:cs typeface="Arial"/>
                <a:sym typeface="Arial"/>
              </a:rPr>
              <a:t>constante</a:t>
            </a:r>
            <a:r>
              <a:rPr b="0" i="0" lang="fr-FR" sz="1400" u="none" cap="none" strike="noStrike">
                <a:solidFill>
                  <a:srgbClr val="000000"/>
                </a:solidFill>
                <a:latin typeface="Arial"/>
                <a:ea typeface="Arial"/>
                <a:cs typeface="Arial"/>
                <a:sym typeface="Arial"/>
              </a:rPr>
              <a:t> sur données non vues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Absence de dégradation des performances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i="0" lang="fr-FR" sz="1400" u="none" cap="none" strike="noStrike">
                <a:solidFill>
                  <a:srgbClr val="000000"/>
                </a:solidFill>
                <a:latin typeface="Arial"/>
                <a:ea typeface="Arial"/>
                <a:cs typeface="Arial"/>
                <a:sym typeface="Arial"/>
              </a:rPr>
              <a:t>Confirmation de la bonne généralisation</a:t>
            </a:r>
            <a:r>
              <a:rPr b="0" i="0" lang="fr-FR" sz="1400" u="none" cap="none" strike="noStrike">
                <a:solidFill>
                  <a:srgbClr val="000000"/>
                </a:solidFill>
                <a:latin typeface="Arial"/>
                <a:ea typeface="Arial"/>
                <a:cs typeface="Arial"/>
                <a:sym typeface="Arial"/>
              </a:rPr>
              <a:t> du modèle</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ikit-learn - NumFOCUS" id="335" name="Google Shape;335;p29"/>
          <p:cNvPicPr preferRelativeResize="0"/>
          <p:nvPr/>
        </p:nvPicPr>
        <p:blipFill rotWithShape="1">
          <a:blip r:embed="rId3">
            <a:alphaModFix/>
          </a:blip>
          <a:srcRect b="0" l="0" r="0" t="0"/>
          <a:stretch/>
        </p:blipFill>
        <p:spPr>
          <a:xfrm>
            <a:off x="4750" y="1514470"/>
            <a:ext cx="682683" cy="682683"/>
          </a:xfrm>
          <a:prstGeom prst="rect">
            <a:avLst/>
          </a:prstGeom>
          <a:noFill/>
          <a:ln>
            <a:noFill/>
          </a:ln>
        </p:spPr>
      </p:pic>
      <p:sp>
        <p:nvSpPr>
          <p:cNvPr id="336" name="Google Shape;336;p29"/>
          <p:cNvSpPr txBox="1"/>
          <p:nvPr/>
        </p:nvSpPr>
        <p:spPr>
          <a:xfrm>
            <a:off x="6096000" y="1637583"/>
            <a:ext cx="5946816"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En </a:t>
            </a:r>
            <a:r>
              <a:rPr b="1" i="0" lang="fr-FR" sz="1400" u="none" cap="none" strike="noStrike">
                <a:solidFill>
                  <a:srgbClr val="000000"/>
                </a:solidFill>
                <a:latin typeface="Arial"/>
                <a:ea typeface="Arial"/>
                <a:cs typeface="Arial"/>
                <a:sym typeface="Arial"/>
              </a:rPr>
              <a:t>Data Science </a:t>
            </a:r>
            <a:r>
              <a:rPr b="0" i="0" lang="fr-FR" sz="1400" u="none" cap="none" strike="noStrike">
                <a:solidFill>
                  <a:srgbClr val="000000"/>
                </a:solidFill>
                <a:latin typeface="Arial"/>
                <a:ea typeface="Arial"/>
                <a:cs typeface="Arial"/>
                <a:sym typeface="Arial"/>
              </a:rPr>
              <a:t>un résultat élevé et souvent synonyme du </a:t>
            </a:r>
            <a:r>
              <a:rPr b="1" i="0" lang="fr-FR" sz="1400" u="none" cap="none" strike="noStrike">
                <a:solidFill>
                  <a:srgbClr val="000000"/>
                </a:solidFill>
                <a:latin typeface="Arial"/>
                <a:ea typeface="Arial"/>
                <a:cs typeface="Arial"/>
                <a:sym typeface="Arial"/>
              </a:rPr>
              <a:t>surapprentissage</a:t>
            </a:r>
            <a:r>
              <a:rPr b="0" i="0" lang="fr-FR" sz="1400" u="none" cap="none" strike="noStrike">
                <a:solidFill>
                  <a:srgbClr val="000000"/>
                </a:solidFill>
                <a:latin typeface="Arial"/>
                <a:ea typeface="Arial"/>
                <a:cs typeface="Arial"/>
                <a:sym typeface="Arial"/>
              </a:rPr>
              <a:t> du modèle. Dans notre cas cela semble ne semble pas être le cas. Cependant il est important de vérifier s’il n’y a pas de fuite de données (</a:t>
            </a:r>
            <a:r>
              <a:rPr b="1" i="0" lang="fr-FR" sz="1400" u="none" cap="none" strike="noStrike">
                <a:solidFill>
                  <a:srgbClr val="000000"/>
                </a:solidFill>
                <a:latin typeface="Arial"/>
                <a:ea typeface="Arial"/>
                <a:cs typeface="Arial"/>
                <a:sym typeface="Arial"/>
              </a:rPr>
              <a:t>DataLeakage)</a:t>
            </a:r>
            <a:r>
              <a:rPr b="0" i="0" lang="fr-FR" sz="1400" u="none" cap="none" strike="noStrike">
                <a:solidFill>
                  <a:srgbClr val="000000"/>
                </a:solidFill>
                <a:latin typeface="Arial"/>
                <a:ea typeface="Arial"/>
                <a:cs typeface="Arial"/>
                <a:sym typeface="Arial"/>
              </a:rPr>
              <a:t> grâce cette ligne de code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Ce code réalise un test de permutation de la variable cible afin de vérifier que les performances du modèle reposent sur une relation réelle entre les variables et non sur une fuite d’information.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Arial"/>
                <a:ea typeface="Arial"/>
                <a:cs typeface="Arial"/>
                <a:sym typeface="Arial"/>
              </a:rPr>
              <a:t>R² avec cible mélangée ≈ </a:t>
            </a:r>
            <a:r>
              <a:rPr b="0" i="0" lang="fr-FR" sz="1400" u="none" cap="none" strike="noStrike">
                <a:solidFill>
                  <a:srgbClr val="000000"/>
                </a:solidFill>
                <a:latin typeface="Arial"/>
                <a:ea typeface="Arial"/>
                <a:cs typeface="Arial"/>
                <a:sym typeface="Arial"/>
              </a:rPr>
              <a:t>-0.00014143471301305554</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Réalisation d’un </a:t>
            </a:r>
            <a:r>
              <a:rPr b="1" i="0" lang="fr-FR" sz="1400" u="none" cap="none" strike="noStrike">
                <a:solidFill>
                  <a:srgbClr val="000000"/>
                </a:solidFill>
                <a:latin typeface="Arial"/>
                <a:ea typeface="Arial"/>
                <a:cs typeface="Arial"/>
                <a:sym typeface="Arial"/>
              </a:rPr>
              <a:t>test de permutation de la variable cible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Destruction volontaire des relations entre variables explicatives et cible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Chute des performances après permutation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bonnes performances initiales reposent sur des </a:t>
            </a:r>
            <a:r>
              <a:rPr b="1" i="0" lang="fr-FR" sz="1400" u="none" cap="none" strike="noStrike">
                <a:solidFill>
                  <a:srgbClr val="000000"/>
                </a:solidFill>
                <a:latin typeface="Arial"/>
                <a:ea typeface="Arial"/>
                <a:cs typeface="Arial"/>
                <a:sym typeface="Arial"/>
              </a:rPr>
              <a:t>relations réelles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i="0" lang="fr-FR" sz="1400" u="none" cap="none" strike="noStrike">
                <a:solidFill>
                  <a:srgbClr val="000000"/>
                </a:solidFill>
                <a:latin typeface="Arial"/>
                <a:ea typeface="Arial"/>
                <a:cs typeface="Arial"/>
                <a:sym typeface="Arial"/>
              </a:rPr>
              <a:t>Absence de fuite d’information (data leakage)</a:t>
            </a:r>
            <a:r>
              <a:rPr b="0" i="0" lang="fr-FR" sz="1400" u="none" cap="none" strike="noStrike">
                <a:solidFill>
                  <a:srgbClr val="000000"/>
                </a:solidFill>
                <a:latin typeface="Arial"/>
                <a:ea typeface="Arial"/>
                <a:cs typeface="Arial"/>
                <a:sym typeface="Arial"/>
              </a:rPr>
              <a:t> confirmée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artie gauche du cerveau avec un remplissage uni" id="337" name="Google Shape;337;p29"/>
          <p:cNvPicPr preferRelativeResize="0"/>
          <p:nvPr/>
        </p:nvPicPr>
        <p:blipFill rotWithShape="1">
          <a:blip r:embed="rId4">
            <a:alphaModFix/>
          </a:blip>
          <a:srcRect b="0" l="0" r="0" t="0"/>
          <a:stretch/>
        </p:blipFill>
        <p:spPr>
          <a:xfrm>
            <a:off x="5618799" y="1547551"/>
            <a:ext cx="649602" cy="649602"/>
          </a:xfrm>
          <a:prstGeom prst="rect">
            <a:avLst/>
          </a:prstGeom>
          <a:noFill/>
          <a:ln>
            <a:noFill/>
          </a:ln>
        </p:spPr>
      </p:pic>
      <p:pic>
        <p:nvPicPr>
          <p:cNvPr descr="Une image contenant capture d’écran, texte, Police&#10;&#10;Le contenu généré par l’IA peut être incorrect." id="338" name="Google Shape;338;p29"/>
          <p:cNvPicPr preferRelativeResize="0"/>
          <p:nvPr/>
        </p:nvPicPr>
        <p:blipFill rotWithShape="1">
          <a:blip r:embed="rId5">
            <a:alphaModFix/>
          </a:blip>
          <a:srcRect b="0" l="0" r="0" t="0"/>
          <a:stretch/>
        </p:blipFill>
        <p:spPr>
          <a:xfrm>
            <a:off x="6301354" y="2660016"/>
            <a:ext cx="5648594" cy="1036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2" name="Shape 342"/>
        <p:cNvGrpSpPr/>
        <p:nvPr/>
      </p:nvGrpSpPr>
      <p:grpSpPr>
        <a:xfrm>
          <a:off x="0" y="0"/>
          <a:ext cx="0" cy="0"/>
          <a:chOff x="0" y="0"/>
          <a:chExt cx="0" cy="0"/>
        </a:xfrm>
      </p:grpSpPr>
      <p:sp>
        <p:nvSpPr>
          <p:cNvPr id="343" name="Google Shape;343;p14"/>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Font typeface="Arial"/>
              <a:buNone/>
            </a:pPr>
            <a:r>
              <a:rPr lang="fr-FR"/>
              <a:t>Modélisation Machine Learning – </a:t>
            </a:r>
            <a:br>
              <a:rPr lang="fr-FR"/>
            </a:br>
            <a:r>
              <a:rPr lang="fr-FR" sz="3600">
                <a:solidFill>
                  <a:schemeClr val="accent3"/>
                </a:solidFill>
              </a:rPr>
              <a:t>Visualisations</a:t>
            </a:r>
            <a:endParaRPr sz="3900">
              <a:solidFill>
                <a:schemeClr val="accent3"/>
              </a:solidFill>
            </a:endParaRPr>
          </a:p>
        </p:txBody>
      </p:sp>
      <p:sp>
        <p:nvSpPr>
          <p:cNvPr id="344" name="Google Shape;344;p14"/>
          <p:cNvSpPr txBox="1"/>
          <p:nvPr/>
        </p:nvSpPr>
        <p:spPr>
          <a:xfrm>
            <a:off x="0" y="6354816"/>
            <a:ext cx="12192000" cy="503184"/>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a:t>
            </a:r>
            <a:r>
              <a:rPr b="1" i="0" lang="fr-FR" sz="1800" u="none" cap="none" strike="noStrike">
                <a:solidFill>
                  <a:srgbClr val="BFBFBF"/>
                </a:solidFill>
                <a:latin typeface="Arial"/>
                <a:ea typeface="Arial"/>
                <a:cs typeface="Arial"/>
                <a:sym typeface="Arial"/>
              </a:rPr>
              <a:t>|</a:t>
            </a:r>
            <a:r>
              <a:rPr b="1" i="0" lang="fr-FR" sz="1800" u="none" cap="none" strike="noStrike">
                <a:solidFill>
                  <a:schemeClr val="dk1"/>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a:t>
            </a:r>
            <a:r>
              <a:rPr b="0" i="0" lang="fr-FR" sz="1800" u="none" cap="none" strike="noStrike">
                <a:solidFill>
                  <a:srgbClr val="A5A5A5"/>
                </a:solidFill>
                <a:latin typeface="Arial"/>
                <a:ea typeface="Arial"/>
                <a:cs typeface="Arial"/>
                <a:sym typeface="Arial"/>
              </a:rPr>
              <a:t> </a:t>
            </a:r>
            <a:r>
              <a:rPr b="0" i="0" lang="fr-FR" sz="1800" u="none" cap="none" strike="noStrike">
                <a:solidFill>
                  <a:srgbClr val="AEAEAE"/>
                </a:solidFill>
                <a:latin typeface="Arial"/>
                <a:ea typeface="Arial"/>
                <a:cs typeface="Arial"/>
                <a:sym typeface="Arial"/>
              </a:rPr>
              <a:t>| Looker </a:t>
            </a:r>
            <a:r>
              <a:rPr b="1" i="0" lang="fr-FR" sz="1800" u="none" cap="none" strike="noStrike">
                <a:solidFill>
                  <a:schemeClr val="dk1"/>
                </a:solidFill>
                <a:latin typeface="Arial"/>
                <a:ea typeface="Arial"/>
                <a:cs typeface="Arial"/>
                <a:sym typeface="Arial"/>
              </a:rPr>
              <a:t>|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Machine Learning | </a:t>
            </a:r>
            <a:r>
              <a:rPr b="0" i="0" lang="fr-FR" sz="1800" u="none" cap="none" strike="noStrike">
                <a:solidFill>
                  <a:srgbClr val="A5A5A5"/>
                </a:solidFill>
                <a:latin typeface="Arial"/>
                <a:ea typeface="Arial"/>
                <a:cs typeface="Arial"/>
                <a:sym typeface="Arial"/>
              </a:rPr>
              <a:t>Conclusion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Annexes/Codes</a:t>
            </a:r>
            <a:endParaRPr b="0" i="0" sz="1800" u="none" cap="none" strike="noStrike">
              <a:solidFill>
                <a:srgbClr val="A5A5A5"/>
              </a:solidFill>
              <a:latin typeface="Arial"/>
              <a:ea typeface="Arial"/>
              <a:cs typeface="Arial"/>
              <a:sym typeface="Arial"/>
            </a:endParaRPr>
          </a:p>
        </p:txBody>
      </p:sp>
      <p:sp>
        <p:nvSpPr>
          <p:cNvPr id="345" name="Google Shape;345;p14"/>
          <p:cNvSpPr txBox="1"/>
          <p:nvPr/>
        </p:nvSpPr>
        <p:spPr>
          <a:xfrm>
            <a:off x="566753" y="1483776"/>
            <a:ext cx="4347704"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Analyse de la learning curve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Étude de l’évolution des performances en fonction de la taille du jeu d’entraînement.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Observation</a:t>
            </a:r>
            <a:r>
              <a:rPr b="0" i="0" lang="fr-FR" sz="1400" u="none" cap="none" strike="noStrike">
                <a:solidFill>
                  <a:srgbClr val="000000"/>
                </a:solidFill>
                <a:latin typeface="Arial"/>
                <a:ea typeface="Arial"/>
                <a:cs typeface="Arial"/>
                <a:sym typeface="Arial"/>
              </a:rPr>
              <a:t> :</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Convergence des scores train et validation</a:t>
            </a:r>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Stabilité du modèle sur de grands volumes de données</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Confirme une </a:t>
            </a:r>
            <a:r>
              <a:rPr b="1" i="0" lang="fr-FR" sz="1400" u="none" cap="none" strike="noStrike">
                <a:solidFill>
                  <a:srgbClr val="000000"/>
                </a:solidFill>
                <a:latin typeface="Arial"/>
                <a:ea typeface="Arial"/>
                <a:cs typeface="Arial"/>
                <a:sym typeface="Arial"/>
              </a:rPr>
              <a:t>bonne généralisation</a:t>
            </a:r>
            <a:r>
              <a:rPr b="0" i="0" lang="fr-FR" sz="1400" u="none" cap="none" strike="noStrike">
                <a:solidFill>
                  <a:srgbClr val="000000"/>
                </a:solidFill>
                <a:latin typeface="Arial"/>
                <a:ea typeface="Arial"/>
                <a:cs typeface="Arial"/>
                <a:sym typeface="Arial"/>
              </a:rPr>
              <a:t> du modèle</a:t>
            </a:r>
            <a:endParaRPr/>
          </a:p>
        </p:txBody>
      </p:sp>
      <p:pic>
        <p:nvPicPr>
          <p:cNvPr descr="Graphique à barres avec tendance à la hausse contour" id="346" name="Google Shape;346;p14"/>
          <p:cNvPicPr preferRelativeResize="0"/>
          <p:nvPr/>
        </p:nvPicPr>
        <p:blipFill rotWithShape="1">
          <a:blip r:embed="rId3">
            <a:alphaModFix/>
          </a:blip>
          <a:srcRect b="0" l="0" r="0" t="0"/>
          <a:stretch/>
        </p:blipFill>
        <p:spPr>
          <a:xfrm>
            <a:off x="-61911" y="1425215"/>
            <a:ext cx="700100" cy="700100"/>
          </a:xfrm>
          <a:prstGeom prst="rect">
            <a:avLst/>
          </a:prstGeom>
          <a:noFill/>
          <a:ln>
            <a:noFill/>
          </a:ln>
        </p:spPr>
      </p:pic>
      <p:sp>
        <p:nvSpPr>
          <p:cNvPr id="347" name="Google Shape;347;p14"/>
          <p:cNvSpPr txBox="1"/>
          <p:nvPr/>
        </p:nvSpPr>
        <p:spPr>
          <a:xfrm>
            <a:off x="6378851" y="1486295"/>
            <a:ext cx="5486918"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fr-FR" sz="1400" u="none" cap="none" strike="noStrike">
                <a:solidFill>
                  <a:srgbClr val="000000"/>
                </a:solidFill>
                <a:latin typeface="Arial"/>
                <a:ea typeface="Arial"/>
                <a:cs typeface="Arial"/>
                <a:sym typeface="Arial"/>
              </a:rPr>
              <a:t>Comparaison entre </a:t>
            </a:r>
            <a:r>
              <a:rPr b="1" i="0" lang="fr-FR" sz="1400" u="none" cap="none" strike="noStrike">
                <a:solidFill>
                  <a:srgbClr val="000000"/>
                </a:solidFill>
                <a:latin typeface="Arial"/>
                <a:ea typeface="Arial"/>
                <a:cs typeface="Arial"/>
                <a:sym typeface="Arial"/>
              </a:rPr>
              <a:t>émissions de CO₂ réelles</a:t>
            </a:r>
            <a:r>
              <a:rPr b="0" i="0" lang="fr-FR" sz="1400" u="none" cap="none" strike="noStrike">
                <a:solidFill>
                  <a:srgbClr val="000000"/>
                </a:solidFill>
                <a:latin typeface="Arial"/>
                <a:ea typeface="Arial"/>
                <a:cs typeface="Arial"/>
                <a:sym typeface="Arial"/>
              </a:rPr>
              <a:t> et </a:t>
            </a:r>
            <a:r>
              <a:rPr b="1" i="0" lang="fr-FR" sz="1400" u="none" cap="none" strike="noStrike">
                <a:solidFill>
                  <a:srgbClr val="000000"/>
                </a:solidFill>
                <a:latin typeface="Arial"/>
                <a:ea typeface="Arial"/>
                <a:cs typeface="Arial"/>
                <a:sym typeface="Arial"/>
              </a:rPr>
              <a:t>émissions prédites</a:t>
            </a:r>
            <a:r>
              <a:rPr b="0" i="0" lang="fr-FR" sz="1400" u="none" cap="none" strike="noStrike">
                <a:solidFill>
                  <a:srgbClr val="000000"/>
                </a:solidFill>
                <a:latin typeface="Arial"/>
                <a:ea typeface="Arial"/>
                <a:cs typeface="Arial"/>
                <a:sym typeface="Arial"/>
              </a:rPr>
              <a:t> sur un échantillon de 100 véhicules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fr-FR" sz="1400" u="none" cap="none" strike="noStrike">
                <a:solidFill>
                  <a:srgbClr val="000000"/>
                </a:solidFill>
                <a:latin typeface="Arial"/>
                <a:ea typeface="Arial"/>
                <a:cs typeface="Arial"/>
                <a:sym typeface="Arial"/>
              </a:rPr>
              <a:t>Observation</a:t>
            </a:r>
            <a:r>
              <a:rPr b="0" i="0" lang="fr-FR" sz="1400" u="none" cap="none" strike="noStrike">
                <a:solidFill>
                  <a:srgbClr val="000000"/>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prédictions suivent </a:t>
            </a:r>
            <a:r>
              <a:rPr b="1" i="0" lang="fr-FR" sz="1400" u="none" cap="none" strike="noStrike">
                <a:solidFill>
                  <a:srgbClr val="000000"/>
                </a:solidFill>
                <a:latin typeface="Arial"/>
                <a:ea typeface="Arial"/>
                <a:cs typeface="Arial"/>
                <a:sym typeface="Arial"/>
              </a:rPr>
              <a:t>globalement bien la tendance</a:t>
            </a:r>
            <a:r>
              <a:rPr b="0" i="0" lang="fr-FR" sz="1400" u="none" cap="none" strike="noStrike">
                <a:solidFill>
                  <a:srgbClr val="000000"/>
                </a:solidFill>
                <a:latin typeface="Arial"/>
                <a:ea typeface="Arial"/>
                <a:cs typeface="Arial"/>
                <a:sym typeface="Arial"/>
              </a:rPr>
              <a:t> des valeurs réelles</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Bonne capacité du modèle à reproduire les émissions de CO₂</a:t>
            </a:r>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différences résiduelles sont cohérentes avec l’erreur moyenne observée (MSE)</a:t>
            </a:r>
            <a:endParaRPr/>
          </a:p>
        </p:txBody>
      </p:sp>
      <p:pic>
        <p:nvPicPr>
          <p:cNvPr descr="Une image contenant texte, Tracé, ligne, diagramme&#10;&#10;Le contenu généré par l’IA peut être incorrect." id="348" name="Google Shape;348;p14"/>
          <p:cNvPicPr preferRelativeResize="0"/>
          <p:nvPr/>
        </p:nvPicPr>
        <p:blipFill rotWithShape="1">
          <a:blip r:embed="rId4">
            <a:alphaModFix/>
          </a:blip>
          <a:srcRect b="0" l="0" r="0" t="0"/>
          <a:stretch/>
        </p:blipFill>
        <p:spPr>
          <a:xfrm>
            <a:off x="595326" y="3515103"/>
            <a:ext cx="4347704" cy="2839934"/>
          </a:xfrm>
          <a:prstGeom prst="rect">
            <a:avLst/>
          </a:prstGeom>
          <a:noFill/>
          <a:ln>
            <a:noFill/>
          </a:ln>
        </p:spPr>
      </p:pic>
      <p:pic>
        <p:nvPicPr>
          <p:cNvPr descr="Une image contenant texte, ligne, diagramme, Tracé&#10;&#10;Le contenu généré par l’IA peut être incorrect." id="349" name="Google Shape;349;p14"/>
          <p:cNvPicPr preferRelativeResize="0"/>
          <p:nvPr/>
        </p:nvPicPr>
        <p:blipFill rotWithShape="1">
          <a:blip r:embed="rId5">
            <a:alphaModFix/>
          </a:blip>
          <a:srcRect b="0" l="0" r="0" t="0"/>
          <a:stretch/>
        </p:blipFill>
        <p:spPr>
          <a:xfrm>
            <a:off x="7081007" y="3515101"/>
            <a:ext cx="4077019" cy="28397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53" name="Shape 353"/>
        <p:cNvGrpSpPr/>
        <p:nvPr/>
      </p:nvGrpSpPr>
      <p:grpSpPr>
        <a:xfrm>
          <a:off x="0" y="0"/>
          <a:ext cx="0" cy="0"/>
          <a:chOff x="0" y="0"/>
          <a:chExt cx="0" cy="0"/>
        </a:xfrm>
      </p:grpSpPr>
      <p:sp>
        <p:nvSpPr>
          <p:cNvPr id="354" name="Google Shape;354;p31"/>
          <p:cNvSpPr txBox="1"/>
          <p:nvPr>
            <p:ph type="title"/>
          </p:nvPr>
        </p:nvSpPr>
        <p:spPr>
          <a:xfrm>
            <a:off x="595325" y="151525"/>
            <a:ext cx="10195500" cy="115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Font typeface="Arial"/>
              <a:buNone/>
            </a:pPr>
            <a:r>
              <a:rPr lang="fr-FR"/>
              <a:t>Modélisation Machine Learning – </a:t>
            </a:r>
            <a:br>
              <a:rPr lang="fr-FR"/>
            </a:br>
            <a:r>
              <a:rPr lang="fr-FR" sz="3600">
                <a:solidFill>
                  <a:schemeClr val="accent3"/>
                </a:solidFill>
              </a:rPr>
              <a:t>Conclusion</a:t>
            </a:r>
            <a:endParaRPr sz="3900">
              <a:solidFill>
                <a:schemeClr val="accent3"/>
              </a:solidFill>
            </a:endParaRPr>
          </a:p>
        </p:txBody>
      </p:sp>
      <p:sp>
        <p:nvSpPr>
          <p:cNvPr id="355" name="Google Shape;355;p31"/>
          <p:cNvSpPr txBox="1"/>
          <p:nvPr/>
        </p:nvSpPr>
        <p:spPr>
          <a:xfrm>
            <a:off x="0" y="6354816"/>
            <a:ext cx="12192000" cy="503184"/>
          </a:xfrm>
          <a:prstGeom prst="rect">
            <a:avLst/>
          </a:prstGeom>
          <a:solidFill>
            <a:srgbClr val="D9D9D9"/>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0" i="0" lang="fr-FR" sz="1800" u="none" cap="none" strike="noStrike">
                <a:solidFill>
                  <a:srgbClr val="A5A5A5"/>
                </a:solidFill>
                <a:latin typeface="Arial"/>
                <a:ea typeface="Arial"/>
                <a:cs typeface="Arial"/>
                <a:sym typeface="Arial"/>
              </a:rPr>
              <a:t>Introduction</a:t>
            </a:r>
            <a:r>
              <a:rPr b="1" i="0" lang="fr-FR" sz="1800" u="none" cap="none" strike="noStrike">
                <a:solidFill>
                  <a:schemeClr val="dk1"/>
                </a:solidFill>
                <a:latin typeface="Arial"/>
                <a:ea typeface="Arial"/>
                <a:cs typeface="Arial"/>
                <a:sym typeface="Arial"/>
              </a:rPr>
              <a:t> </a:t>
            </a:r>
            <a:r>
              <a:rPr b="1" i="0" lang="fr-FR" sz="1800" u="none" cap="none" strike="noStrike">
                <a:solidFill>
                  <a:srgbClr val="BFBFBF"/>
                </a:solidFill>
                <a:latin typeface="Arial"/>
                <a:ea typeface="Arial"/>
                <a:cs typeface="Arial"/>
                <a:sym typeface="Arial"/>
              </a:rPr>
              <a:t>|</a:t>
            </a:r>
            <a:r>
              <a:rPr b="1" i="0" lang="fr-FR" sz="1800" u="none" cap="none" strike="noStrike">
                <a:solidFill>
                  <a:schemeClr val="dk1"/>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Exploration </a:t>
            </a:r>
            <a:r>
              <a:rPr b="0" i="0" lang="fr-FR" sz="1800" u="none" cap="none" strike="noStrike">
                <a:solidFill>
                  <a:srgbClr val="AEAEAE"/>
                </a:solidFill>
                <a:latin typeface="Arial"/>
                <a:ea typeface="Arial"/>
                <a:cs typeface="Arial"/>
                <a:sym typeface="Arial"/>
              </a:rPr>
              <a:t>| Looker </a:t>
            </a:r>
            <a:r>
              <a:rPr b="1" i="0" lang="fr-FR" sz="1800" u="none" cap="none" strike="noStrike">
                <a:solidFill>
                  <a:schemeClr val="dk1"/>
                </a:solidFill>
                <a:latin typeface="Arial"/>
                <a:ea typeface="Arial"/>
                <a:cs typeface="Arial"/>
                <a:sym typeface="Arial"/>
              </a:rPr>
              <a:t>| </a:t>
            </a:r>
            <a:r>
              <a:rPr b="1" i="0" lang="fr-FR" sz="1800" u="none" cap="none" strike="noStrike">
                <a:solidFill>
                  <a:srgbClr val="36733F"/>
                </a:solidFill>
                <a:latin typeface="Arial"/>
                <a:ea typeface="Arial"/>
                <a:cs typeface="Arial"/>
                <a:sym typeface="Arial"/>
              </a:rPr>
              <a:t>&gt; </a:t>
            </a:r>
            <a:r>
              <a:rPr b="1" i="0" lang="fr-FR" sz="1800" u="none" cap="none" strike="noStrike">
                <a:solidFill>
                  <a:schemeClr val="dk1"/>
                </a:solidFill>
                <a:latin typeface="Arial"/>
                <a:ea typeface="Arial"/>
                <a:cs typeface="Arial"/>
                <a:sym typeface="Arial"/>
              </a:rPr>
              <a:t>Machine Learning | </a:t>
            </a:r>
            <a:r>
              <a:rPr b="0" i="0" lang="fr-FR" sz="1800" u="none" cap="none" strike="noStrike">
                <a:solidFill>
                  <a:srgbClr val="A5A5A5"/>
                </a:solidFill>
                <a:latin typeface="Arial"/>
                <a:ea typeface="Arial"/>
                <a:cs typeface="Arial"/>
                <a:sym typeface="Arial"/>
              </a:rPr>
              <a:t>Conclusion </a:t>
            </a:r>
            <a:r>
              <a:rPr b="1" i="0" lang="fr-FR" sz="1800" u="none" cap="none" strike="noStrike">
                <a:solidFill>
                  <a:srgbClr val="A5A5A5"/>
                </a:solidFill>
                <a:latin typeface="Arial"/>
                <a:ea typeface="Arial"/>
                <a:cs typeface="Arial"/>
                <a:sym typeface="Arial"/>
              </a:rPr>
              <a:t>| </a:t>
            </a:r>
            <a:r>
              <a:rPr b="0" i="0" lang="fr-FR" sz="1800" u="none" cap="none" strike="noStrike">
                <a:solidFill>
                  <a:srgbClr val="A5A5A5"/>
                </a:solidFill>
                <a:latin typeface="Arial"/>
                <a:ea typeface="Arial"/>
                <a:cs typeface="Arial"/>
                <a:sym typeface="Arial"/>
              </a:rPr>
              <a:t>Annexes/Codes</a:t>
            </a:r>
            <a:endParaRPr b="0" i="0" sz="1800" u="none" cap="none" strike="noStrike">
              <a:solidFill>
                <a:srgbClr val="A5A5A5"/>
              </a:solidFill>
              <a:latin typeface="Arial"/>
              <a:ea typeface="Arial"/>
              <a:cs typeface="Arial"/>
              <a:sym typeface="Arial"/>
            </a:endParaRPr>
          </a:p>
        </p:txBody>
      </p:sp>
      <p:sp>
        <p:nvSpPr>
          <p:cNvPr id="356" name="Google Shape;356;p31"/>
          <p:cNvSpPr txBox="1"/>
          <p:nvPr/>
        </p:nvSpPr>
        <p:spPr>
          <a:xfrm>
            <a:off x="6823364" y="1594408"/>
            <a:ext cx="5368636"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La régression supervisée permet de </a:t>
            </a:r>
            <a:r>
              <a:rPr b="1" i="0" lang="fr-FR" sz="1400" u="none" cap="none" strike="noStrike">
                <a:solidFill>
                  <a:srgbClr val="000000"/>
                </a:solidFill>
                <a:latin typeface="Arial"/>
                <a:ea typeface="Arial"/>
                <a:cs typeface="Arial"/>
                <a:sym typeface="Arial"/>
              </a:rPr>
              <a:t>prédire efficacement les émissions de CO₂</a:t>
            </a:r>
            <a:r>
              <a:rPr b="0" i="0" lang="fr-FR" sz="1400" u="none" cap="none" strike="noStrike">
                <a:solidFill>
                  <a:srgbClr val="000000"/>
                </a:solidFill>
                <a:latin typeface="Arial"/>
                <a:ea typeface="Arial"/>
                <a:cs typeface="Arial"/>
                <a:sym typeface="Arial"/>
              </a:rPr>
              <a:t> des véhicules thermiques à partir de leurs caractéristiques techniques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L’approche combine </a:t>
            </a:r>
            <a:r>
              <a:rPr b="1" i="0" lang="fr-FR" sz="1400" u="none" cap="none" strike="noStrike">
                <a:solidFill>
                  <a:srgbClr val="000000"/>
                </a:solidFill>
                <a:latin typeface="Arial"/>
                <a:ea typeface="Arial"/>
                <a:cs typeface="Arial"/>
                <a:sym typeface="Arial"/>
              </a:rPr>
              <a:t>prétraitement robuste</a:t>
            </a:r>
            <a:r>
              <a:rPr b="0" i="0" lang="fr-FR" sz="1400" u="none" cap="none" strike="noStrike">
                <a:solidFill>
                  <a:srgbClr val="000000"/>
                </a:solidFill>
                <a:latin typeface="Arial"/>
                <a:ea typeface="Arial"/>
                <a:cs typeface="Arial"/>
                <a:sym typeface="Arial"/>
              </a:rPr>
              <a:t>, </a:t>
            </a:r>
            <a:r>
              <a:rPr b="1" i="0" lang="fr-FR" sz="1400" u="none" cap="none" strike="noStrike">
                <a:solidFill>
                  <a:srgbClr val="000000"/>
                </a:solidFill>
                <a:latin typeface="Arial"/>
                <a:ea typeface="Arial"/>
                <a:cs typeface="Arial"/>
                <a:sym typeface="Arial"/>
              </a:rPr>
              <a:t>validation croisée</a:t>
            </a:r>
            <a:r>
              <a:rPr b="0" i="0" lang="fr-FR" sz="1400" u="none" cap="none" strike="noStrike">
                <a:solidFill>
                  <a:srgbClr val="000000"/>
                </a:solidFill>
                <a:latin typeface="Arial"/>
                <a:ea typeface="Arial"/>
                <a:cs typeface="Arial"/>
                <a:sym typeface="Arial"/>
              </a:rPr>
              <a:t> et </a:t>
            </a:r>
            <a:r>
              <a:rPr b="1" i="0" lang="fr-FR" sz="1400" u="none" cap="none" strike="noStrike">
                <a:solidFill>
                  <a:srgbClr val="000000"/>
                </a:solidFill>
                <a:latin typeface="Arial"/>
                <a:ea typeface="Arial"/>
                <a:cs typeface="Arial"/>
                <a:sym typeface="Arial"/>
              </a:rPr>
              <a:t>modèle interprétable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Performances élevées obtenues </a:t>
            </a:r>
            <a:r>
              <a:rPr b="1" i="0" lang="fr-FR" sz="1400" u="none" cap="none" strike="noStrike">
                <a:solidFill>
                  <a:srgbClr val="000000"/>
                </a:solidFill>
                <a:latin typeface="Arial"/>
                <a:ea typeface="Arial"/>
                <a:cs typeface="Arial"/>
                <a:sym typeface="Arial"/>
              </a:rPr>
              <a:t>sans surapprentissage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Fiabilité des prédictions confirmée</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Les bons résultats s’expliquent par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la </a:t>
            </a:r>
            <a:r>
              <a:rPr b="1" i="0" lang="fr-FR" sz="1400" u="none" cap="none" strike="noStrike">
                <a:solidFill>
                  <a:srgbClr val="000000"/>
                </a:solidFill>
                <a:latin typeface="Arial"/>
                <a:ea typeface="Arial"/>
                <a:cs typeface="Arial"/>
                <a:sym typeface="Arial"/>
              </a:rPr>
              <a:t>qualité du preprocessing</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la </a:t>
            </a:r>
            <a:r>
              <a:rPr b="1" i="0" lang="fr-FR" sz="1400" u="none" cap="none" strike="noStrike">
                <a:solidFill>
                  <a:srgbClr val="000000"/>
                </a:solidFill>
                <a:latin typeface="Arial"/>
                <a:ea typeface="Arial"/>
                <a:cs typeface="Arial"/>
                <a:sym typeface="Arial"/>
              </a:rPr>
              <a:t>taille importante du dataset</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 </a:t>
            </a:r>
            <a:r>
              <a:rPr b="1" i="0" lang="fr-FR" sz="1400" u="none" cap="none" strike="noStrike">
                <a:solidFill>
                  <a:srgbClr val="000000"/>
                </a:solidFill>
                <a:latin typeface="Arial"/>
                <a:ea typeface="Arial"/>
                <a:cs typeface="Arial"/>
                <a:sym typeface="Arial"/>
              </a:rPr>
              <a:t>choix d’un modèle adapté</a:t>
            </a:r>
            <a:endParaRPr b="0" i="0" sz="1400" u="none" cap="none" strike="noStrike">
              <a:solidFill>
                <a:srgbClr val="000000"/>
              </a:solidFill>
              <a:latin typeface="Arial"/>
              <a:ea typeface="Arial"/>
              <a:cs typeface="Arial"/>
              <a:sym typeface="Arial"/>
            </a:endParaRPr>
          </a:p>
          <a:p>
            <a:pPr indent="-196850" lvl="1"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Cette méthodologie constitue une </a:t>
            </a:r>
            <a:r>
              <a:rPr b="1" i="0" lang="fr-FR" sz="1400" u="none" cap="none" strike="noStrike">
                <a:solidFill>
                  <a:srgbClr val="000000"/>
                </a:solidFill>
                <a:latin typeface="Arial"/>
                <a:ea typeface="Arial"/>
                <a:cs typeface="Arial"/>
                <a:sym typeface="Arial"/>
              </a:rPr>
              <a:t>base solide pour des modèles plus complexes</a:t>
            </a:r>
            <a:r>
              <a:rPr b="0" i="0" lang="fr-FR" sz="1400" u="none" cap="none" strike="noStrike">
                <a:solidFill>
                  <a:srgbClr val="000000"/>
                </a:solidFill>
                <a:latin typeface="Arial"/>
                <a:ea typeface="Arial"/>
                <a:cs typeface="Arial"/>
                <a:sym typeface="Arial"/>
              </a:rPr>
              <a:t> (Random Forest, Lasso, ElasticNet)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1"/>
          <p:cNvSpPr txBox="1"/>
          <p:nvPr/>
        </p:nvSpPr>
        <p:spPr>
          <a:xfrm>
            <a:off x="347" y="1476649"/>
            <a:ext cx="615141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Le nuage de points montre une forte concordance entre les valeurs réelles et prédites, confirmant la capacité du modèle à capturer la relation entre les caractéristiques des véhicules et leurs émissions de CO₂.</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Le modèle a tendance à :</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1" i="0" lang="fr-FR" sz="1400" u="none" cap="none" strike="noStrike">
                <a:solidFill>
                  <a:srgbClr val="000000"/>
                </a:solidFill>
                <a:latin typeface="Arial"/>
                <a:ea typeface="Arial"/>
                <a:cs typeface="Arial"/>
                <a:sym typeface="Arial"/>
              </a:rPr>
              <a:t>lisser</a:t>
            </a:r>
            <a:r>
              <a:rPr b="0" i="0" lang="fr-FR" sz="1400" u="none" cap="none" strike="noStrike">
                <a:solidFill>
                  <a:srgbClr val="000000"/>
                </a:solidFill>
                <a:latin typeface="Arial"/>
                <a:ea typeface="Arial"/>
                <a:cs typeface="Arial"/>
                <a:sym typeface="Arial"/>
              </a:rPr>
              <a:t> les valeurs extrêmes</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sous-estimer légèrement les très fortes émissions</a:t>
            </a:r>
            <a:endParaRPr b="0" i="0" sz="1400" u="none" cap="none" strike="noStrike">
              <a:solidFill>
                <a:srgbClr val="000000"/>
              </a:solidFill>
              <a:latin typeface="Arial"/>
              <a:ea typeface="Arial"/>
              <a:cs typeface="Arial"/>
              <a:sym typeface="Arial"/>
            </a:endParaRPr>
          </a:p>
          <a:p>
            <a:pPr indent="-285750" lvl="1"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surestimer certaines très faibles émissions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Comportement classique d’un modèle linéaire.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8" name="Google Shape;358;p31" title="LR_pred_vs_real2.png"/>
          <p:cNvPicPr preferRelativeResize="0"/>
          <p:nvPr/>
        </p:nvPicPr>
        <p:blipFill>
          <a:blip r:embed="rId3">
            <a:alphaModFix/>
          </a:blip>
          <a:stretch>
            <a:fillRect/>
          </a:stretch>
        </p:blipFill>
        <p:spPr>
          <a:xfrm>
            <a:off x="668050" y="3555950"/>
            <a:ext cx="3327399" cy="2614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2025-12-19T16:26:53Z</dcterms:created>
  <dc:creator>Alexis Decloquement</dc:creator>
</cp:coreProperties>
</file>